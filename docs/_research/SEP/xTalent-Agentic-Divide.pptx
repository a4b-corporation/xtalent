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49601" y="253901"/>
            <a:ext cx="1244650" cy="393502"/>
          </a:xfrm>
          <a:prstGeom prst="roundRect">
            <a:avLst>
              <a:gd name="adj" fmla="val 45184"/>
            </a:avLst>
          </a:prstGeom>
          <a:solidFill>
            <a:srgbClr val="6366F1">
              <a:alpha val="10000"/>
            </a:srgbClr>
          </a:solidFill>
          <a:ln w="9525">
            <a:solidFill>
              <a:srgbClr val="6366F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86076" y="403027"/>
            <a:ext cx="99113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CONTEXT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526825" y="913209"/>
            <a:ext cx="209035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494"/>
              </a:spcBef>
              <a:spcAft>
                <a:spcPts val="1494"/>
              </a:spcAft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Agentic Divide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371137" y="1407616"/>
            <a:ext cx="440157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spcAft>
                <a:spcPts val="100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stark gap is</a:t>
            </a:r>
            <a:endParaRPr lang="en-US" sz="750" dirty="0"/>
          </a:p>
          <a:p>
            <a:pPr algn="ctr" indent="0" marL="0">
              <a:spcBef>
                <a:spcPts val="300"/>
              </a:spcBef>
              <a:spcAft>
                <a:spcPts val="100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emerging between organizations that rewire around AI vs. those treating it as an add-on.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31750" y="1639342"/>
            <a:ext cx="3848249" cy="2694533"/>
          </a:xfrm>
          <a:prstGeom prst="roundRect">
            <a:avLst>
              <a:gd name="adj" fmla="val 56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31750" y="1644104"/>
            <a:ext cx="3848249" cy="0"/>
          </a:xfrm>
          <a:prstGeom prst="line">
            <a:avLst/>
          </a:prstGeom>
          <a:noFill/>
          <a:ln w="9525">
            <a:solidFill>
              <a:srgbClr val="6366F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75237" y="1639342"/>
            <a:ext cx="0" cy="2694533"/>
          </a:xfrm>
          <a:prstGeom prst="line">
            <a:avLst/>
          </a:prstGeom>
          <a:noFill/>
          <a:ln w="9525">
            <a:solidFill>
              <a:srgbClr val="6366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1750" y="4329113"/>
            <a:ext cx="3848249" cy="0"/>
          </a:xfrm>
          <a:prstGeom prst="line">
            <a:avLst/>
          </a:prstGeom>
          <a:noFill/>
          <a:ln w="9525">
            <a:solidFill>
              <a:srgbClr val="6366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5563" y="1639342"/>
            <a:ext cx="0" cy="2694533"/>
          </a:xfrm>
          <a:prstGeom prst="line">
            <a:avLst/>
          </a:prstGeom>
          <a:noFill/>
          <a:ln w="47625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2526" y="2004417"/>
            <a:ext cx="345249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6% Leaders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2526" y="2226618"/>
            <a:ext cx="3452494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82526" y="2737693"/>
            <a:ext cx="3384798" cy="1383506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indent="0" marL="0">
              <a:buNone/>
            </a:pP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860227" y="2858244"/>
            <a:ext cx="327123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Rewiring operating model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860227" y="3204121"/>
            <a:ext cx="327123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200-2000% productivity gains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0227" y="3549997"/>
            <a:ext cx="327123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AI-first architecture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860227" y="3895874"/>
            <a:ext cx="327123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Self-evolving systems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457700" y="2853184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864001" y="1639342"/>
            <a:ext cx="3848249" cy="2694533"/>
          </a:xfrm>
          <a:prstGeom prst="roundRect">
            <a:avLst>
              <a:gd name="adj" fmla="val 56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864001" y="1644104"/>
            <a:ext cx="384824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07487" y="1639342"/>
            <a:ext cx="0" cy="2694533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64001" y="4329113"/>
            <a:ext cx="384824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87813" y="1639342"/>
            <a:ext cx="0" cy="2694533"/>
          </a:xfrm>
          <a:prstGeom prst="line">
            <a:avLst/>
          </a:prstGeom>
          <a:noFill/>
          <a:ln w="47625">
            <a:solidFill>
              <a:srgbClr val="94A3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14776" y="2004417"/>
            <a:ext cx="345249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94% Laggards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14776" y="2226618"/>
            <a:ext cx="3452494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5114776" y="2737693"/>
            <a:ext cx="3384798" cy="1383506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indent="0" marL="0">
              <a:buNone/>
            </a:pP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292477" y="2858244"/>
            <a:ext cx="327123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 add-on layer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292477" y="3204121"/>
            <a:ext cx="327123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pilot failure rate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292477" y="3549997"/>
            <a:ext cx="327123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architecture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292477" y="3895874"/>
            <a:ext cx="327123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processes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790813" y="4435376"/>
            <a:ext cx="156237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Gartner, McKinsey, Deloitte —</a:t>
            </a:r>
            <a:endParaRPr lang="en-US" sz="600" dirty="0"/>
          </a:p>
          <a:p>
            <a:pPr algn="ctr" indent="0" marL="0">
              <a:spcBef>
                <a:spcPts val="8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2026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xTalent — Agentic Divide (Light)</dc:title>
  <dc:subject>PptxGenJS Presentation</dc:subject>
  <dc:creator>xTalent Team</dc:creator>
  <cp:lastModifiedBy>xTalent Team</cp:lastModifiedBy>
  <cp:revision>1</cp:revision>
  <dcterms:created xsi:type="dcterms:W3CDTF">2026-03-02T08:59:27Z</dcterms:created>
  <dcterms:modified xsi:type="dcterms:W3CDTF">2026-03-02T08:59:27Z</dcterms:modified>
</cp:coreProperties>
</file>