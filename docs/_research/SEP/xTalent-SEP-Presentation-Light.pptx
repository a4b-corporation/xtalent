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EEF5F-1565-1D48-80F4-949C5D3C1753}" v="34" dt="2026-03-02T09:17:50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46" d="100"/>
          <a:sy n="146" d="100"/>
        </p:scale>
        <p:origin x="16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64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ũ. Nguyễn Huy (7)" userId="d6e3b4f1-a4ca-4bfa-bbd2-4c02dcb156a0" providerId="ADAL" clId="{04050C0F-00BE-5CD6-9848-850234EF60F3}"/>
    <pc:docChg chg="undo custSel modSld modMainMaster">
      <pc:chgData name="Vũ. Nguyễn Huy (7)" userId="d6e3b4f1-a4ca-4bfa-bbd2-4c02dcb156a0" providerId="ADAL" clId="{04050C0F-00BE-5CD6-9848-850234EF60F3}" dt="2026-03-02T09:20:49.176" v="114" actId="1076"/>
      <pc:docMkLst>
        <pc:docMk/>
      </pc:docMkLst>
      <pc:sldChg chg="modSp mod setBg">
        <pc:chgData name="Vũ. Nguyễn Huy (7)" userId="d6e3b4f1-a4ca-4bfa-bbd2-4c02dcb156a0" providerId="ADAL" clId="{04050C0F-00BE-5CD6-9848-850234EF60F3}" dt="2026-03-02T09:17:50.665" v="103"/>
        <pc:sldMkLst>
          <pc:docMk/>
          <pc:sldMk cId="0" sldId="256"/>
        </pc:sldMkLst>
        <pc:spChg chg="mod">
          <ac:chgData name="Vũ. Nguyễn Huy (7)" userId="d6e3b4f1-a4ca-4bfa-bbd2-4c02dcb156a0" providerId="ADAL" clId="{04050C0F-00BE-5CD6-9848-850234EF60F3}" dt="2026-03-02T08:44:15.706" v="5" actId="1076"/>
          <ac:spMkLst>
            <pc:docMk/>
            <pc:sldMk cId="0" sldId="256"/>
            <ac:spMk id="5" creationId="{00000000-0000-0000-0000-000000000000}"/>
          </ac:spMkLst>
        </pc:spChg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57"/>
        </pc:sldMkLst>
      </pc:sldChg>
      <pc:sldChg chg="modSp mod 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58"/>
        </pc:sldMkLst>
        <pc:spChg chg="mod">
          <ac:chgData name="Vũ. Nguyễn Huy (7)" userId="d6e3b4f1-a4ca-4bfa-bbd2-4c02dcb156a0" providerId="ADAL" clId="{04050C0F-00BE-5CD6-9848-850234EF60F3}" dt="2026-03-02T08:53:51.525" v="41" actId="122"/>
          <ac:spMkLst>
            <pc:docMk/>
            <pc:sldMk cId="0" sldId="258"/>
            <ac:spMk id="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19.278" v="36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2:46.040" v="30" actId="2085"/>
          <ac:spMkLst>
            <pc:docMk/>
            <pc:sldMk cId="0" sldId="258"/>
            <ac:spMk id="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04.966" v="31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2:46.040" v="30" actId="2085"/>
          <ac:spMkLst>
            <pc:docMk/>
            <pc:sldMk cId="0" sldId="258"/>
            <ac:spMk id="8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04.966" v="31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2:46.040" v="30" actId="208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04.966" v="31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2:46.040" v="30" actId="208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04.966" v="31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2T08:53:39.717" v="40" actId="1076"/>
          <ac:spMkLst>
            <pc:docMk/>
            <pc:sldMk cId="0" sldId="258"/>
            <ac:spMk id="14" creationId="{00000000-0000-0000-0000-000000000000}"/>
          </ac:spMkLst>
        </pc:spChg>
      </pc:sldChg>
      <pc:sldChg chg="addSp delSp modSp mod setBg">
        <pc:chgData name="Vũ. Nguyễn Huy (7)" userId="d6e3b4f1-a4ca-4bfa-bbd2-4c02dcb156a0" providerId="ADAL" clId="{04050C0F-00BE-5CD6-9848-850234EF60F3}" dt="2026-03-02T09:20:49.176" v="114" actId="1076"/>
        <pc:sldMkLst>
          <pc:docMk/>
          <pc:sldMk cId="0" sldId="259"/>
        </pc:sldMkLst>
        <pc:spChg chg="mod">
          <ac:chgData name="Vũ. Nguyễn Huy (7)" userId="d6e3b4f1-a4ca-4bfa-bbd2-4c02dcb156a0" providerId="ADAL" clId="{04050C0F-00BE-5CD6-9848-850234EF60F3}" dt="2026-03-02T09:10:41.138" v="61" actId="14100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Vũ. Nguyễn Huy (7)" userId="d6e3b4f1-a4ca-4bfa-bbd2-4c02dcb156a0" providerId="ADAL" clId="{04050C0F-00BE-5CD6-9848-850234EF60F3}" dt="2026-03-02T09:14:55.938" v="71"/>
          <ac:spMkLst>
            <pc:docMk/>
            <pc:sldMk cId="0" sldId="259"/>
            <ac:spMk id="8" creationId="{210296D8-FACF-CDDD-7243-3E7069ADB69E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9" creationId="{9A77911B-CF10-3D8C-1244-EFE1FD1587AD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0" creationId="{B508AAF5-3B4F-16E2-AB6E-BD1EA5793309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1" creationId="{588D9864-3E70-454E-6CC7-26C1AEA638CA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2" creationId="{D1EDACB6-3EC4-C84E-0915-86C2243B2DA4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3" creationId="{2B9ED95C-E826-7574-C27A-25086206DB13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4" creationId="{93CCCFDB-E4A1-E758-3EF5-0261EB2400E3}"/>
          </ac:spMkLst>
        </pc:spChg>
        <pc:spChg chg="add mod">
          <ac:chgData name="Vũ. Nguyễn Huy (7)" userId="d6e3b4f1-a4ca-4bfa-bbd2-4c02dcb156a0" providerId="ADAL" clId="{04050C0F-00BE-5CD6-9848-850234EF60F3}" dt="2026-03-02T09:15:06.070" v="72"/>
          <ac:spMkLst>
            <pc:docMk/>
            <pc:sldMk cId="0" sldId="259"/>
            <ac:spMk id="15" creationId="{BE593A59-67F6-1569-C942-33B17D9AC4D4}"/>
          </ac:spMkLst>
        </pc:spChg>
        <pc:picChg chg="del mod">
          <ac:chgData name="Vũ. Nguyễn Huy (7)" userId="d6e3b4f1-a4ca-4bfa-bbd2-4c02dcb156a0" providerId="ADAL" clId="{04050C0F-00BE-5CD6-9848-850234EF60F3}" dt="2026-03-02T09:06:14.029" v="60" actId="478"/>
          <ac:picMkLst>
            <pc:docMk/>
            <pc:sldMk cId="0" sldId="259"/>
            <ac:picMk id="6" creationId="{00000000-0000-0000-0000-000000000000}"/>
          </ac:picMkLst>
        </pc:picChg>
        <pc:picChg chg="add del mod">
          <ac:chgData name="Vũ. Nguyễn Huy (7)" userId="d6e3b4f1-a4ca-4bfa-bbd2-4c02dcb156a0" providerId="ADAL" clId="{04050C0F-00BE-5CD6-9848-850234EF60F3}" dt="2026-03-02T09:17:15.383" v="101" actId="478"/>
          <ac:picMkLst>
            <pc:docMk/>
            <pc:sldMk cId="0" sldId="259"/>
            <ac:picMk id="7" creationId="{367224D3-EBCF-BE0B-FEA7-D87936D89700}"/>
          </ac:picMkLst>
        </pc:picChg>
        <pc:picChg chg="add del mod">
          <ac:chgData name="Vũ. Nguyễn Huy (7)" userId="d6e3b4f1-a4ca-4bfa-bbd2-4c02dcb156a0" providerId="ADAL" clId="{04050C0F-00BE-5CD6-9848-850234EF60F3}" dt="2026-03-02T09:18:19.704" v="106" actId="478"/>
          <ac:picMkLst>
            <pc:docMk/>
            <pc:sldMk cId="0" sldId="259"/>
            <ac:picMk id="17" creationId="{29D04E8C-AC1A-3EB9-B03C-561BC39D39E9}"/>
          </ac:picMkLst>
        </pc:picChg>
        <pc:picChg chg="add del mod">
          <ac:chgData name="Vũ. Nguyễn Huy (7)" userId="d6e3b4f1-a4ca-4bfa-bbd2-4c02dcb156a0" providerId="ADAL" clId="{04050C0F-00BE-5CD6-9848-850234EF60F3}" dt="2026-03-02T09:20:32.307" v="108" actId="478"/>
          <ac:picMkLst>
            <pc:docMk/>
            <pc:sldMk cId="0" sldId="259"/>
            <ac:picMk id="19" creationId="{6AC3061F-8B5B-C34C-3188-9E48E4E8A10C}"/>
          </ac:picMkLst>
        </pc:picChg>
        <pc:picChg chg="add mod">
          <ac:chgData name="Vũ. Nguyễn Huy (7)" userId="d6e3b4f1-a4ca-4bfa-bbd2-4c02dcb156a0" providerId="ADAL" clId="{04050C0F-00BE-5CD6-9848-850234EF60F3}" dt="2026-03-02T09:20:49.176" v="114" actId="1076"/>
          <ac:picMkLst>
            <pc:docMk/>
            <pc:sldMk cId="0" sldId="259"/>
            <ac:picMk id="21" creationId="{F9C07E97-5E53-C608-5746-D2A1E8D1F055}"/>
          </ac:picMkLst>
        </pc:picChg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0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1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2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3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4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5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6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7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8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69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70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71"/>
        </pc:sldMkLst>
      </pc:sldChg>
      <pc:sldChg chg="setBg">
        <pc:chgData name="Vũ. Nguyễn Huy (7)" userId="d6e3b4f1-a4ca-4bfa-bbd2-4c02dcb156a0" providerId="ADAL" clId="{04050C0F-00BE-5CD6-9848-850234EF60F3}" dt="2026-03-02T09:16:06.476" v="74"/>
        <pc:sldMkLst>
          <pc:docMk/>
          <pc:sldMk cId="0" sldId="272"/>
        </pc:sldMkLst>
      </pc:sldChg>
      <pc:sldMasterChg chg="setBg modSldLayout">
        <pc:chgData name="Vũ. Nguyễn Huy (7)" userId="d6e3b4f1-a4ca-4bfa-bbd2-4c02dcb156a0" providerId="ADAL" clId="{04050C0F-00BE-5CD6-9848-850234EF60F3}" dt="2026-03-02T09:17:50.665" v="103"/>
        <pc:sldMasterMkLst>
          <pc:docMk/>
          <pc:sldMasterMk cId="0" sldId="2147483648"/>
        </pc:sldMasterMkLst>
        <pc:sldLayoutChg chg="setBg">
          <pc:chgData name="Vũ. Nguyễn Huy (7)" userId="d6e3b4f1-a4ca-4bfa-bbd2-4c02dcb156a0" providerId="ADAL" clId="{04050C0F-00BE-5CD6-9848-850234EF60F3}" dt="2026-03-02T09:17:50.665" v="103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827A6E-151B-261B-5BF8-E7E3E3B55F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6C61D-9AE1-FCB2-928E-AA61BAE8B9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BD63-E58D-9D48-A6EC-BBF983DB3DC1}" type="datetimeFigureOut">
              <a:rPr lang="en-VN" smtClean="0"/>
              <a:t>2/3/26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CA25D-B341-F4FB-5EBC-E1513290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7E6A2-445D-622B-5FB8-DC9C0823EF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BDEB5-8CC8-8F43-8DB9-88BEE01DA1B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29598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33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219" y="1187946"/>
            <a:ext cx="1541562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37695" y="1337072"/>
            <a:ext cx="1293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788569" y="1989237"/>
            <a:ext cx="159804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12"/>
              </a:spcBef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82706" y="2666107"/>
            <a:ext cx="2178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62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Self-Evolving Platform</a:t>
            </a:r>
            <a:endParaRPr lang="en-US" sz="1400" dirty="0"/>
          </a:p>
        </p:txBody>
      </p:sp>
      <p:pic>
        <p:nvPicPr>
          <p:cNvPr id="6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50" y="3193852"/>
            <a:ext cx="634901" cy="38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447752"/>
            <a:ext cx="621792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Human Capital Management solution built on the Self-Evolving Platform (SEP) — designed to continuously learn, adapt, and evolve alongside your organization in the age of AI Agents.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6317" y="821531"/>
            <a:ext cx="9498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pic>
        <p:nvPicPr>
          <p:cNvPr id="3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50" y="1339007"/>
            <a:ext cx="63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5321" y="165958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171527" y="174843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6923" y="1757958"/>
            <a:ext cx="2635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Era of Cognitive Autonomy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45321" y="2072283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EC4899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171527" y="216113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6923" y="2170658"/>
            <a:ext cx="257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Why Traditional HCM Falls Short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45321" y="2484983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6B6D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171527" y="25738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6923" y="2583359"/>
            <a:ext cx="2674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xTalent on the Self-Evolving Platform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45321" y="28976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71527" y="29865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6923" y="2996059"/>
            <a:ext cx="2019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Four-Layer Model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45321" y="33103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171527" y="33992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6923" y="3408759"/>
            <a:ext cx="1833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 Cases on SEP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045321" y="37230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71527" y="381193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76923" y="3821460"/>
            <a:ext cx="2078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 Phases to Evolution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45321" y="4135785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F43F5E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171527" y="422463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6923" y="4234160"/>
            <a:ext cx="1902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Governance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Value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601" y="989707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86076" y="1138833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679055" y="1695450"/>
            <a:ext cx="38614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66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 of Cognitive Autonomy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92531" y="2241090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shifted from experimental pilots to production-grade autonomous systems delivering measurable P&amp;L impact.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4474" y="2834842"/>
            <a:ext cx="1787652" cy="54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44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apps with agentic capabilities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00223" y="2834842"/>
            <a:ext cx="1787804" cy="54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$3-5T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00223" y="3630067"/>
            <a:ext cx="178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Agentic Commerce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56124" y="2834842"/>
            <a:ext cx="1787652" cy="54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5612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per $1 invested in Agentic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1874" y="2834842"/>
            <a:ext cx="1787652" cy="54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118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decisions made autonomously by 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5534" y="4504122"/>
            <a:ext cx="316498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Gartner, McKinsey, Deloitte, Neurons Lab —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601" y="304800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86076" y="453926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547318" y="989409"/>
            <a:ext cx="2090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Divide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91704" y="1290563"/>
            <a:ext cx="4401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stark gap is emerging between organizations that rewire around AI vs. those treating it as an add-on.</a:t>
            </a:r>
            <a:endParaRPr lang="en-US" sz="900" dirty="0"/>
          </a:p>
        </p:txBody>
      </p:sp>
      <p:pic>
        <p:nvPicPr>
          <p:cNvPr id="21" name="Picture 20" descr="A comparison of a card&#10;&#10;AI-generated content may be incorrect.">
            <a:extLst>
              <a:ext uri="{FF2B5EF4-FFF2-40B4-BE49-F238E27FC236}">
                <a16:creationId xmlns:a16="http://schemas.microsoft.com/office/drawing/2014/main" id="{F9C07E97-5E53-C608-5746-D2A1E8D1F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47" y="1595284"/>
            <a:ext cx="6180846" cy="3094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6162" y="304800"/>
            <a:ext cx="1031528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2637" y="453926"/>
            <a:ext cx="7737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311003" y="989409"/>
            <a:ext cx="4612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HCM is Fundamentally Broken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50" y="1579066"/>
            <a:ext cx="634901" cy="38100"/>
          </a:xfrm>
          <a:prstGeom prst="rect">
            <a:avLst/>
          </a:prstGeom>
        </p:spPr>
      </p:pic>
      <p:pic>
        <p:nvPicPr>
          <p:cNvPr id="6" name="Image 1" descr="/Users/nguyenhuyvu/Library/CloudStorage/OneDrive-VNGCorporation/Apps/mygit/a4b-doc-xtalent/product/xTalent/docs/_research/SEP/assets/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731466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2986" y="355550"/>
            <a:ext cx="89802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59461" y="504676"/>
            <a:ext cx="6375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14137" y="1040160"/>
            <a:ext cx="4115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 on the Self-Evolving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71664" y="1547217"/>
            <a:ext cx="4800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understands, learns, and evolves — transforming HCM from a static tool to a living system.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793230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3127921" y="1788468"/>
            <a:ext cx="0" cy="99774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507950" y="2781449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527000" y="1788468"/>
            <a:ext cx="0" cy="997744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698450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Self-Understanding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8450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comprehend HR processes like a domain expert through Ontology-Driven Knowledge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59634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59634" y="1793230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5879604" y="1788468"/>
            <a:ext cx="0" cy="99774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3259634" y="2781449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3278684" y="1788468"/>
            <a:ext cx="0" cy="997744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3450134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Self-Adapting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0134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generate in real-time based on user intent — from fixed screens to AI-created views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11317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11317" y="1793230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31287" y="1788468"/>
            <a:ext cx="0" cy="99774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6011317" y="2781449"/>
            <a:ext cx="262473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6030367" y="1788468"/>
            <a:ext cx="0" cy="99774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201817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Self-Orchestrating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1817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workflows coordinate across HR functions — onboarding, payroll, compliance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02050" y="2913162"/>
            <a:ext cx="2539901" cy="997744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2050" y="2917924"/>
            <a:ext cx="2539901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5837188" y="2913162"/>
            <a:ext cx="0" cy="99774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3302050" y="3906143"/>
            <a:ext cx="2539901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3321100" y="2913162"/>
            <a:ext cx="0" cy="99774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3492550" y="3189387"/>
            <a:ext cx="2231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Self-Managing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92550" y="3411587"/>
            <a:ext cx="223122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architecture grows organically — from ACID databases to AI-native vector stores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4015" y="304800"/>
            <a:ext cx="109597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60490" y="453926"/>
            <a:ext cx="839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378101" y="989409"/>
            <a:ext cx="24355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Four-Layer Model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assets/architectu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450" y="1496467"/>
            <a:ext cx="317495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Ontology-Driven Knowledge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"semantic brain" — enabling AI Agents to understand HR domain as deeply as a subject matter expert.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001887" y="1737717"/>
            <a:ext cx="0" cy="86826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601218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Ontology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8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HR entity models in LinkML/OWL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1081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081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78287" y="1737717"/>
            <a:ext cx="0" cy="86826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108150" y="2601218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1272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2732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732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terms to technical data mapping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7845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845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54687" y="1737717"/>
            <a:ext cx="0" cy="86826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84550" y="2601218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8036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496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496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Employee, Position, Dept relationships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609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609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031087" y="1737717"/>
            <a:ext cx="0" cy="86826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460950" y="2601218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4800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6260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60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labor law and policy guardrails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1373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1373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707487" y="1737717"/>
            <a:ext cx="0" cy="86826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137350" y="2601218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1564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3024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API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02401" y="2172444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SME-as-a-Service for any Agent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1750" y="2732931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layer, AI is surface-level automation. With it, AI becomes a domain-aware decision partner.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6301" y="279350"/>
            <a:ext cx="7112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52776" y="428476"/>
            <a:ext cx="4470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55387" y="953542"/>
            <a:ext cx="42332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11"/>
              </a:spcBef>
              <a:spcAft>
                <a:spcPts val="1411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UI Layer — The 30-60-10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99146" y="1428006"/>
            <a:ext cx="3945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interface, to the right user, at the right time — balancing consistency with flexibility.</a:t>
            </a:r>
            <a:endParaRPr lang="en-US" sz="75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ui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50" y="1608981"/>
            <a:ext cx="3048000" cy="304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06701" y="1608981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606701" y="1613743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6"/>
          <p:cNvSpPr/>
          <p:nvPr/>
        </p:nvSpPr>
        <p:spPr>
          <a:xfrm>
            <a:off x="8707487" y="1608981"/>
            <a:ext cx="0" cy="69428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7"/>
          <p:cNvSpPr/>
          <p:nvPr/>
        </p:nvSpPr>
        <p:spPr>
          <a:xfrm>
            <a:off x="3606701" y="2298502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8"/>
          <p:cNvSpPr/>
          <p:nvPr/>
        </p:nvSpPr>
        <p:spPr>
          <a:xfrm>
            <a:off x="3625751" y="1608981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9"/>
          <p:cNvSpPr/>
          <p:nvPr/>
        </p:nvSpPr>
        <p:spPr>
          <a:xfrm>
            <a:off x="3746302" y="1815257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(Fixed) — 30%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746302" y="2002482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design system, brand identity. Built by developers.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606701" y="2366665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606701" y="2371427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3"/>
          <p:cNvSpPr/>
          <p:nvPr/>
        </p:nvSpPr>
        <p:spPr>
          <a:xfrm>
            <a:off x="8707487" y="2366665"/>
            <a:ext cx="0" cy="69428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4"/>
          <p:cNvSpPr/>
          <p:nvPr/>
        </p:nvSpPr>
        <p:spPr>
          <a:xfrm>
            <a:off x="3606701" y="3056186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5"/>
          <p:cNvSpPr/>
          <p:nvPr/>
        </p:nvSpPr>
        <p:spPr>
          <a:xfrm>
            <a:off x="3625751" y="2366665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6"/>
          <p:cNvSpPr/>
          <p:nvPr/>
        </p:nvSpPr>
        <p:spPr>
          <a:xfrm>
            <a:off x="3746302" y="2572941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— 60%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746302" y="2760166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JSON/Template-driven views. Admins customize without code.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606701" y="3124349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606701" y="3129111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0"/>
          <p:cNvSpPr/>
          <p:nvPr/>
        </p:nvSpPr>
        <p:spPr>
          <a:xfrm>
            <a:off x="8707487" y="3124349"/>
            <a:ext cx="0" cy="69428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1"/>
          <p:cNvSpPr/>
          <p:nvPr/>
        </p:nvSpPr>
        <p:spPr>
          <a:xfrm>
            <a:off x="3606701" y="3813870"/>
            <a:ext cx="51055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2"/>
          <p:cNvSpPr/>
          <p:nvPr/>
        </p:nvSpPr>
        <p:spPr>
          <a:xfrm>
            <a:off x="3625751" y="3124349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3"/>
          <p:cNvSpPr/>
          <p:nvPr/>
        </p:nvSpPr>
        <p:spPr>
          <a:xfrm>
            <a:off x="3746302" y="3330625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 (A2UI) — 10%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746302" y="3517850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create interfaces on-demand for long-tail needs.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292822" y="4707731"/>
            <a:ext cx="26093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by: </a:t>
            </a:r>
            <a:r>
              <a:rPr lang="en-US" sz="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A2UI</a:t>
            </a: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(Google) + </a:t>
            </a:r>
            <a:r>
              <a:rPr lang="en-US" sz="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AG-UI</a:t>
            </a: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(Event Protocol) + </a:t>
            </a:r>
            <a:r>
              <a:rPr lang="en-US" sz="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(Data Access)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Backend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APIs to agent teams — processing business logic through traditional and AI-powered orchestration.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420987" y="1737717"/>
            <a:ext cx="0" cy="76095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493913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8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REST/GraphQL stateless CRUD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5272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7250" y="1742480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4516487" y="1737717"/>
            <a:ext cx="0" cy="76095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527250" y="2493913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5463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6923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23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designer, zero-code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6227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22750" y="1742480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6611987" y="1737717"/>
            <a:ext cx="0" cy="76095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4622750" y="2493913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46418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7878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878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teams: Recruit, Comply, Payroll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7182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718250" y="1742480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8707487" y="1737717"/>
            <a:ext cx="0" cy="76095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6718250" y="2493913"/>
            <a:ext cx="19939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67373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68833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Governance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833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RBAC, audit, kill switches, HITL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31750" y="2625626"/>
            <a:ext cx="8280499" cy="545902"/>
          </a:xfrm>
          <a:prstGeom prst="roundRect">
            <a:avLst>
              <a:gd name="adj" fmla="val 18611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8150" y="2850952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 Impact: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requests "3-level approval for leave &gt; 5 days" — Traditional: 2-week release. </a:t>
            </a: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xTalent: Configure and deploy instantly.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storage paradigm for every type of data — from strict transactional records to AI-native stores.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001887" y="1737717"/>
            <a:ext cx="0" cy="8524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585442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RDBMS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6801" y="2156668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ACID, strict schema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1081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081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78287" y="1737717"/>
            <a:ext cx="0" cy="8524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108150" y="2585442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1272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2732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Store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73201" y="2156668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SurrealDB — schemaless custom fields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7845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845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54687" y="1737717"/>
            <a:ext cx="0" cy="8524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84550" y="2585442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8036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496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Store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496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— org charts, skill maps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609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609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031087" y="1737717"/>
            <a:ext cx="0" cy="8524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460950" y="2585442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4800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6260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Audit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260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+ lineage — AI traceability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1373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137350" y="1742480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707487" y="1737717"/>
            <a:ext cx="0" cy="852487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137350" y="2585442"/>
            <a:ext cx="15748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1564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3024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Store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024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— embeddings, RAG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1750" y="2717155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Audit is mandatory for HR compliance — labor law, data privacy, GDPR/PDPA, AI transparency.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7634" y="304800"/>
            <a:ext cx="808583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04109" y="453926"/>
            <a:ext cx="5463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96753" y="989409"/>
            <a:ext cx="40293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Employee Onboarding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77741" y="1483816"/>
            <a:ext cx="34561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AI-powered steps orchestrated across all 4 layers of the Self-Evolving Platform</a:t>
            </a:r>
            <a:endParaRPr lang="en-US" sz="75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onboarding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39342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954" y="279350"/>
            <a:ext cx="1220093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98429" y="428476"/>
            <a:ext cx="966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 CASES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31803" y="963960"/>
            <a:ext cx="2733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HR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332161"/>
            <a:ext cx="4076700" cy="1293316"/>
          </a:xfrm>
          <a:prstGeom prst="roundRect">
            <a:avLst>
              <a:gd name="adj" fmla="val 98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1750" y="1336923"/>
            <a:ext cx="40767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4503688" y="1332161"/>
            <a:ext cx="0" cy="12933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431750" y="2620714"/>
            <a:ext cx="40767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0800" y="1332161"/>
            <a:ext cx="0" cy="129331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22250" y="1608386"/>
            <a:ext cx="3798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 Review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250" y="1830586"/>
            <a:ext cx="379876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data collection from attendance, projects, peer feedback. Performance Agent synthesizes insights. Manager sees Generative UI dashboard. Business Rules ensure fairness.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2285851"/>
            <a:ext cx="37987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annual subjective reviews to continuous data-driven assessment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635401" y="1332161"/>
            <a:ext cx="4076849" cy="1293316"/>
          </a:xfrm>
          <a:prstGeom prst="roundRect">
            <a:avLst>
              <a:gd name="adj" fmla="val 98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401" y="1336923"/>
            <a:ext cx="40768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707487" y="1332161"/>
            <a:ext cx="0" cy="129331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4635401" y="2620714"/>
            <a:ext cx="40768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4654451" y="1332161"/>
            <a:ext cx="0" cy="129331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4825901" y="1608386"/>
            <a:ext cx="3798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Payroll Compliance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5901" y="1830586"/>
            <a:ext cx="379891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rules encoded in Ontology. Regulation changes update ontology only. Payroll Agent runs and verifies in parallel. Full audit trail in Metadata layer.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25901" y="2161580"/>
            <a:ext cx="37989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code changes when regulations update — ontology-only updates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80988" y="2726978"/>
            <a:ext cx="8582025" cy="793552"/>
          </a:xfrm>
          <a:prstGeom prst="roundRect">
            <a:avLst>
              <a:gd name="adj" fmla="val 16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80988" y="2731740"/>
            <a:ext cx="85820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58250" y="2726978"/>
            <a:ext cx="0" cy="7935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280988" y="3515767"/>
            <a:ext cx="85820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300038" y="2726978"/>
            <a:ext cx="0" cy="79355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363233" y="2977753"/>
            <a:ext cx="8446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Intent-Based HR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233" y="3199954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Employee: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"How many vacation days do I have?" </a:t>
            </a: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"Show attrition risk" </a:t>
            </a: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CHRO:</a:t>
            </a: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"Headcount cost by region YoY"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0313" y="304800"/>
            <a:ext cx="803225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06788" y="453926"/>
            <a:ext cx="5408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977455" y="1010543"/>
            <a:ext cx="32528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to Evolution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1750" y="1432768"/>
            <a:ext cx="2675483" cy="2401342"/>
          </a:xfrm>
          <a:prstGeom prst="roundRect">
            <a:avLst>
              <a:gd name="adj" fmla="val 5289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721644"/>
            <a:ext cx="2398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675" y="1946970"/>
            <a:ext cx="239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2118420"/>
            <a:ext cx="2351633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46075" y="2226171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 Domain Ontology (LinkML)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46075" y="253692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— org structure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46075" y="2847677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REST/GraphQL APIs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46075" y="3158430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— design system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46075" y="346918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+ Flex Store + Metadata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234184" y="1432768"/>
            <a:ext cx="2675632" cy="2401342"/>
          </a:xfrm>
          <a:prstGeom prst="roundRect">
            <a:avLst>
              <a:gd name="adj" fmla="val 5289"/>
            </a:avLst>
          </a:prstGeom>
          <a:solidFill>
            <a:srgbClr val="06B6D4">
              <a:alpha val="1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6109" y="1721644"/>
            <a:ext cx="2398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Intelligence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6109" y="1946970"/>
            <a:ext cx="23988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7-12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96109" y="2118420"/>
            <a:ext cx="2351782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48509" y="2226171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 — visual designer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48509" y="2536924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Team: Onboard, Comply, Payroll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48509" y="2847677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(JSON-driven)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548509" y="3158430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Knowledge Graph + GraphRAG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48509" y="3469184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— semantic search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036766" y="1432768"/>
            <a:ext cx="2675483" cy="2401342"/>
          </a:xfrm>
          <a:prstGeom prst="roundRect">
            <a:avLst>
              <a:gd name="adj" fmla="val 5289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8691" y="1721644"/>
            <a:ext cx="2398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Evolution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8691" y="1946970"/>
            <a:ext cx="239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13-18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198691" y="2118420"/>
            <a:ext cx="2351633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351091" y="2226171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 — A2UI integration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351091" y="253692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cross-functional teams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351091" y="2847677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MAPE-K self-optimization loops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351091" y="3158430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HR Analytics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351091" y="346918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Auto-evolving rules and workflows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2735" y="330101"/>
            <a:ext cx="618381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99211" y="479227"/>
            <a:ext cx="3523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333452" y="1014710"/>
            <a:ext cx="2526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Strategic Impact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assets/roi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50" y="1521768"/>
            <a:ext cx="3301901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1991" y="304800"/>
            <a:ext cx="620018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98466" y="453926"/>
            <a:ext cx="3540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78621" y="978991"/>
            <a:ext cx="365849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11"/>
              </a:spcBef>
              <a:spcAft>
                <a:spcPts val="1411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Security Framework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438992" y="1440656"/>
            <a:ext cx="42660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Agent operates under strict governance — with 5 pillars and 5 layers of defense-in-depth security.</a:t>
            </a:r>
            <a:endParaRPr lang="en-US" sz="70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governance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450" y="1586657"/>
            <a:ext cx="317495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guyenhuyvu/Library/CloudStorage/OneDrive-VNGCorporation/Apps/mygit/a4b-doc-xtalent/product/xTalent/docs/_research/SEP/workspace/slides/cta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50" y="1166961"/>
            <a:ext cx="6603950" cy="3301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2531" y="1701105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6"/>
              </a:spcBef>
              <a:spcAft>
                <a:spcPts val="1206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 is not just the future of HCM.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92531" y="2120950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6"/>
              </a:spcBef>
              <a:spcAft>
                <a:spcPts val="1206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future of enterprise software.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54401" y="2540794"/>
            <a:ext cx="634901" cy="25301"/>
          </a:xfrm>
          <a:prstGeom prst="roundRect">
            <a:avLst>
              <a:gd name="adj" fmla="val 50196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2531" y="2693045"/>
            <a:ext cx="59587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software to living systems. From configuration to conversation. From siloed data to unified knowledge. From manual compliance to automatic governance.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31889" y="3195786"/>
            <a:ext cx="917079" cy="399752"/>
          </a:xfrm>
          <a:prstGeom prst="roundRect">
            <a:avLst>
              <a:gd name="adj" fmla="val 19062"/>
            </a:avLst>
          </a:prstGeom>
          <a:solidFill>
            <a:srgbClr val="000000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78166" y="3348038"/>
            <a:ext cx="6245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Ontology-First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750469" y="3195786"/>
            <a:ext cx="1390948" cy="399752"/>
          </a:xfrm>
          <a:prstGeom prst="roundRect">
            <a:avLst>
              <a:gd name="adj" fmla="val 19062"/>
            </a:avLst>
          </a:prstGeom>
          <a:solidFill>
            <a:srgbClr val="000000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92007" y="3348038"/>
            <a:ext cx="1107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Intent-Over-Configuration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242917" y="3195786"/>
            <a:ext cx="1168896" cy="399752"/>
          </a:xfrm>
          <a:prstGeom prst="roundRect">
            <a:avLst>
              <a:gd name="adj" fmla="val 19062"/>
            </a:avLst>
          </a:prstGeom>
          <a:solidFill>
            <a:srgbClr val="000000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386676" y="3348038"/>
            <a:ext cx="8813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Evolution-by-Design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955</Words>
  <Application>Microsoft Macintosh PowerPoint</Application>
  <PresentationFormat>On-screen Show (16:9)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xTalent — The Self-Evolving HCM Platform</dc:title>
  <dc:subject>PptxGenJS Presentation</dc:subject>
  <dc:creator>xTalent Team</dc:creator>
  <cp:lastModifiedBy>Vũ. Nguyễn Huy (7)</cp:lastModifiedBy>
  <cp:revision>1</cp:revision>
  <dcterms:created xsi:type="dcterms:W3CDTF">2026-03-02T08:43:17Z</dcterms:created>
  <dcterms:modified xsi:type="dcterms:W3CDTF">2026-03-02T09:20:53Z</dcterms:modified>
</cp:coreProperties>
</file>