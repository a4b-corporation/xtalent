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73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0" r:id="rId13"/>
    <p:sldId id="267" r:id="rId14"/>
    <p:sldId id="268" r:id="rId15"/>
    <p:sldId id="269" r:id="rId16"/>
    <p:sldId id="270" r:id="rId17"/>
    <p:sldId id="271" r:id="rId18"/>
    <p:sldId id="272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1064" y="4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ũ. Nguyễn Huy (7)" userId="d6e3b4f1-a4ca-4bfa-bbd2-4c02dcb156a0" providerId="ADAL" clId="{04050C0F-00BE-5CD6-9848-850234EF60F3}"/>
    <pc:docChg chg="custSel addSld modSld sldOrd">
      <pc:chgData name="Vũ. Nguyễn Huy (7)" userId="d6e3b4f1-a4ca-4bfa-bbd2-4c02dcb156a0" providerId="ADAL" clId="{04050C0F-00BE-5CD6-9848-850234EF60F3}" dt="2026-03-02T09:09:17.857" v="10" actId="20578"/>
      <pc:docMkLst>
        <pc:docMk/>
      </pc:docMkLst>
      <pc:sldChg chg="modSp mod">
        <pc:chgData name="Vũ. Nguyễn Huy (7)" userId="d6e3b4f1-a4ca-4bfa-bbd2-4c02dcb156a0" providerId="ADAL" clId="{04050C0F-00BE-5CD6-9848-850234EF60F3}" dt="2026-03-02T09:08:20.959" v="4" actId="122"/>
        <pc:sldMkLst>
          <pc:docMk/>
          <pc:sldMk cId="0" sldId="256"/>
        </pc:sldMkLst>
        <pc:spChg chg="mod">
          <ac:chgData name="Vũ. Nguyễn Huy (7)" userId="d6e3b4f1-a4ca-4bfa-bbd2-4c02dcb156a0" providerId="ADAL" clId="{04050C0F-00BE-5CD6-9848-850234EF60F3}" dt="2026-03-02T09:08:20.959" v="4" actId="122"/>
          <ac:spMkLst>
            <pc:docMk/>
            <pc:sldMk cId="0" sldId="256"/>
            <ac:spMk id="3" creationId="{00000000-0000-0000-0000-000000000000}"/>
          </ac:spMkLst>
        </pc:spChg>
      </pc:sldChg>
      <pc:sldChg chg="modSp mod">
        <pc:chgData name="Vũ. Nguyễn Huy (7)" userId="d6e3b4f1-a4ca-4bfa-bbd2-4c02dcb156a0" providerId="ADAL" clId="{04050C0F-00BE-5CD6-9848-850234EF60F3}" dt="2026-03-02T09:08:26.098" v="5" actId="122"/>
        <pc:sldMkLst>
          <pc:docMk/>
          <pc:sldMk cId="0" sldId="258"/>
        </pc:sldMkLst>
        <pc:spChg chg="mod">
          <ac:chgData name="Vũ. Nguyễn Huy (7)" userId="d6e3b4f1-a4ca-4bfa-bbd2-4c02dcb156a0" providerId="ADAL" clId="{04050C0F-00BE-5CD6-9848-850234EF60F3}" dt="2026-03-02T09:08:26.098" v="5" actId="122"/>
          <ac:spMkLst>
            <pc:docMk/>
            <pc:sldMk cId="0" sldId="258"/>
            <ac:spMk id="3" creationId="{00000000-0000-0000-0000-000000000000}"/>
          </ac:spMkLst>
        </pc:spChg>
      </pc:sldChg>
      <pc:sldChg chg="modSp mod">
        <pc:chgData name="Vũ. Nguyễn Huy (7)" userId="d6e3b4f1-a4ca-4bfa-bbd2-4c02dcb156a0" providerId="ADAL" clId="{04050C0F-00BE-5CD6-9848-850234EF60F3}" dt="2026-03-02T09:08:44.895" v="7" actId="122"/>
        <pc:sldMkLst>
          <pc:docMk/>
          <pc:sldMk cId="0" sldId="260"/>
        </pc:sldMkLst>
        <pc:spChg chg="mod">
          <ac:chgData name="Vũ. Nguyễn Huy (7)" userId="d6e3b4f1-a4ca-4bfa-bbd2-4c02dcb156a0" providerId="ADAL" clId="{04050C0F-00BE-5CD6-9848-850234EF60F3}" dt="2026-03-02T09:08:44.895" v="7" actId="122"/>
          <ac:spMkLst>
            <pc:docMk/>
            <pc:sldMk cId="0" sldId="260"/>
            <ac:spMk id="3" creationId="{00000000-0000-0000-0000-000000000000}"/>
          </ac:spMkLst>
        </pc:spChg>
      </pc:sldChg>
      <pc:sldChg chg="ord">
        <pc:chgData name="Vũ. Nguyễn Huy (7)" userId="d6e3b4f1-a4ca-4bfa-bbd2-4c02dcb156a0" providerId="ADAL" clId="{04050C0F-00BE-5CD6-9848-850234EF60F3}" dt="2026-03-02T09:08:58.012" v="8" actId="20578"/>
        <pc:sldMkLst>
          <pc:docMk/>
          <pc:sldMk cId="0" sldId="261"/>
        </pc:sldMkLst>
      </pc:sldChg>
      <pc:sldChg chg="ord">
        <pc:chgData name="Vũ. Nguyễn Huy (7)" userId="d6e3b4f1-a4ca-4bfa-bbd2-4c02dcb156a0" providerId="ADAL" clId="{04050C0F-00BE-5CD6-9848-850234EF60F3}" dt="2026-03-02T09:09:08.245" v="9" actId="20578"/>
        <pc:sldMkLst>
          <pc:docMk/>
          <pc:sldMk cId="0" sldId="262"/>
        </pc:sldMkLst>
      </pc:sldChg>
      <pc:sldChg chg="ord">
        <pc:chgData name="Vũ. Nguyễn Huy (7)" userId="d6e3b4f1-a4ca-4bfa-bbd2-4c02dcb156a0" providerId="ADAL" clId="{04050C0F-00BE-5CD6-9848-850234EF60F3}" dt="2026-03-02T09:09:17.857" v="10" actId="20578"/>
        <pc:sldMkLst>
          <pc:docMk/>
          <pc:sldMk cId="0" sldId="263"/>
        </pc:sldMkLst>
      </pc:sldChg>
      <pc:sldChg chg="ord">
        <pc:chgData name="Vũ. Nguyễn Huy (7)" userId="d6e3b4f1-a4ca-4bfa-bbd2-4c02dcb156a0" providerId="ADAL" clId="{04050C0F-00BE-5CD6-9848-850234EF60F3}" dt="2026-03-02T09:09:17.857" v="10" actId="20578"/>
        <pc:sldMkLst>
          <pc:docMk/>
          <pc:sldMk cId="0" sldId="264"/>
        </pc:sldMkLst>
      </pc:sldChg>
      <pc:sldChg chg="ord">
        <pc:chgData name="Vũ. Nguyễn Huy (7)" userId="d6e3b4f1-a4ca-4bfa-bbd2-4c02dcb156a0" providerId="ADAL" clId="{04050C0F-00BE-5CD6-9848-850234EF60F3}" dt="2026-03-02T09:09:17.857" v="10" actId="20578"/>
        <pc:sldMkLst>
          <pc:docMk/>
          <pc:sldMk cId="0" sldId="265"/>
        </pc:sldMkLst>
      </pc:sldChg>
      <pc:sldChg chg="ord">
        <pc:chgData name="Vũ. Nguyễn Huy (7)" userId="d6e3b4f1-a4ca-4bfa-bbd2-4c02dcb156a0" providerId="ADAL" clId="{04050C0F-00BE-5CD6-9848-850234EF60F3}" dt="2026-03-02T09:09:17.857" v="10" actId="20578"/>
        <pc:sldMkLst>
          <pc:docMk/>
          <pc:sldMk cId="0" sldId="266"/>
        </pc:sldMkLst>
      </pc:sldChg>
      <pc:sldChg chg="addSp delSp modSp add mod">
        <pc:chgData name="Vũ. Nguyễn Huy (7)" userId="d6e3b4f1-a4ca-4bfa-bbd2-4c02dcb156a0" providerId="ADAL" clId="{04050C0F-00BE-5CD6-9848-850234EF60F3}" dt="2026-03-02T09:08:30.372" v="6" actId="122"/>
        <pc:sldMkLst>
          <pc:docMk/>
          <pc:sldMk cId="1889936620" sldId="273"/>
        </pc:sldMkLst>
        <pc:spChg chg="mod">
          <ac:chgData name="Vũ. Nguyễn Huy (7)" userId="d6e3b4f1-a4ca-4bfa-bbd2-4c02dcb156a0" providerId="ADAL" clId="{04050C0F-00BE-5CD6-9848-850234EF60F3}" dt="2026-03-02T09:08:30.372" v="6" actId="122"/>
          <ac:spMkLst>
            <pc:docMk/>
            <pc:sldMk cId="1889936620" sldId="273"/>
            <ac:spMk id="3" creationId="{2DF58A0D-A260-0F23-6548-9F90B8259F87}"/>
          </ac:spMkLst>
        </pc:spChg>
        <pc:picChg chg="add del mod">
          <ac:chgData name="Vũ. Nguyễn Huy (7)" userId="d6e3b4f1-a4ca-4bfa-bbd2-4c02dcb156a0" providerId="ADAL" clId="{04050C0F-00BE-5CD6-9848-850234EF60F3}" dt="2026-03-02T09:08:01.979" v="3" actId="478"/>
          <ac:picMkLst>
            <pc:docMk/>
            <pc:sldMk cId="1889936620" sldId="273"/>
            <ac:picMk id="16" creationId="{7118CB51-B464-03BB-AD60-4562CF975C06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24949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D632C3-A012-C5EF-27F6-5B4F7271EC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34C198-F5F0-91F4-E548-7C5456376E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AE4FF6-D83E-460D-220A-06BB762F46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9FD41B-048F-C9F2-3061-F4852709CD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9067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01219" y="1187946"/>
            <a:ext cx="1541562" cy="393502"/>
          </a:xfrm>
          <a:prstGeom prst="roundRect">
            <a:avLst>
              <a:gd name="adj" fmla="val 45184"/>
            </a:avLst>
          </a:prstGeom>
          <a:solidFill>
            <a:srgbClr val="6366F1">
              <a:alpha val="15000"/>
            </a:srgbClr>
          </a:solidFill>
          <a:ln w="9525">
            <a:solidFill>
              <a:srgbClr val="6366F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937695" y="1337072"/>
            <a:ext cx="129398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VISION 2026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788569" y="1989237"/>
            <a:ext cx="1598048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412"/>
              </a:spcBef>
              <a:spcAft>
                <a:spcPts val="200"/>
              </a:spcAft>
              <a:buNone/>
            </a:pPr>
            <a:r>
              <a:rPr lang="en-US" sz="36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xTalent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292822" y="2685901"/>
            <a:ext cx="260937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162"/>
              </a:spcBef>
              <a:spcAft>
                <a:spcPts val="1000"/>
              </a:spcAft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Self-Evolving HCM Platform</a:t>
            </a:r>
            <a:endParaRPr lang="en-US" sz="1400" dirty="0"/>
          </a:p>
        </p:txBody>
      </p:sp>
      <p:pic>
        <p:nvPicPr>
          <p:cNvPr id="6" name="Image 0" descr="/Users/nguyenhuyvu/Library/CloudStorage/OneDrive-VNGCorporation/Apps/mygit/a4b-doc-xtalent/product/xTalent/docs/_research/SEP/workspace/slides/divid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4550" y="3193852"/>
            <a:ext cx="634901" cy="381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3447752"/>
            <a:ext cx="6217920" cy="38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spcBef>
                <a:spcPts val="8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next-generation Human Capital Management solution built on the Self-Evolving Platform (SEP) — designed to continuously learn, adapt, and evolve alongside your organization in the age of AI Agents.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06317" y="821531"/>
            <a:ext cx="949842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660"/>
              </a:spcBef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2000" dirty="0"/>
          </a:p>
        </p:txBody>
      </p:sp>
      <p:pic>
        <p:nvPicPr>
          <p:cNvPr id="3" name="Image 0" descr="/Users/nguyenhuyvu/Library/CloudStorage/OneDrive-VNGCorporation/Apps/mygit/a4b-doc-xtalent/product/xTalent/docs/_research/SEP/workspace/slides/divid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4550" y="1339007"/>
            <a:ext cx="634901" cy="381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045321" y="1659582"/>
            <a:ext cx="330101" cy="330101"/>
          </a:xfrm>
          <a:prstGeom prst="roundRect">
            <a:avLst>
              <a:gd name="adj" fmla="val 26931"/>
            </a:avLst>
          </a:prstGeom>
          <a:solidFill>
            <a:srgbClr val="6366F1">
              <a:alpha val="2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3171527" y="1748433"/>
            <a:ext cx="792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3476923" y="1757958"/>
            <a:ext cx="263517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Context</a:t>
            </a: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The Era of Cognitive Autonomy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3045321" y="2072283"/>
            <a:ext cx="330101" cy="330101"/>
          </a:xfrm>
          <a:prstGeom prst="roundRect">
            <a:avLst>
              <a:gd name="adj" fmla="val 26931"/>
            </a:avLst>
          </a:prstGeom>
          <a:solidFill>
            <a:srgbClr val="EC4899">
              <a:alpha val="2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3171527" y="2161133"/>
            <a:ext cx="792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b="1" dirty="0">
                <a:solidFill>
                  <a:srgbClr val="F47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476923" y="2170658"/>
            <a:ext cx="257855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Why Traditional HCM Falls Short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3045321" y="2484983"/>
            <a:ext cx="330101" cy="330101"/>
          </a:xfrm>
          <a:prstGeom prst="roundRect">
            <a:avLst>
              <a:gd name="adj" fmla="val 26931"/>
            </a:avLst>
          </a:prstGeom>
          <a:solidFill>
            <a:srgbClr val="06B6D4">
              <a:alpha val="2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3171527" y="2573834"/>
            <a:ext cx="792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476923" y="2583359"/>
            <a:ext cx="26740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Vision</a:t>
            </a: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xTalent on the Self-Evolving Platform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3045321" y="2897684"/>
            <a:ext cx="330101" cy="330101"/>
          </a:xfrm>
          <a:prstGeom prst="roundRect">
            <a:avLst>
              <a:gd name="adj" fmla="val 26931"/>
            </a:avLst>
          </a:prstGeom>
          <a:solidFill>
            <a:srgbClr val="F59E0B">
              <a:alpha val="2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3171527" y="2986534"/>
            <a:ext cx="792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476923" y="2996059"/>
            <a:ext cx="201945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The Four-Layer Model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3045321" y="3310384"/>
            <a:ext cx="330101" cy="330101"/>
          </a:xfrm>
          <a:prstGeom prst="roundRect">
            <a:avLst>
              <a:gd name="adj" fmla="val 26931"/>
            </a:avLst>
          </a:prstGeom>
          <a:solidFill>
            <a:srgbClr val="10B981">
              <a:alpha val="2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3171527" y="3399234"/>
            <a:ext cx="792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3476923" y="3408759"/>
            <a:ext cx="183380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Capabilities</a:t>
            </a: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Use Cases on SEP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3045321" y="3723084"/>
            <a:ext cx="330101" cy="330101"/>
          </a:xfrm>
          <a:prstGeom prst="roundRect">
            <a:avLst>
              <a:gd name="adj" fmla="val 26931"/>
            </a:avLst>
          </a:prstGeom>
          <a:solidFill>
            <a:srgbClr val="8B5CF6">
              <a:alpha val="2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3171527" y="3811935"/>
            <a:ext cx="792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3476923" y="3821460"/>
            <a:ext cx="207805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Three Phases to Evolution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3045321" y="4135785"/>
            <a:ext cx="330101" cy="330101"/>
          </a:xfrm>
          <a:prstGeom prst="roundRect">
            <a:avLst>
              <a:gd name="adj" fmla="val 26931"/>
            </a:avLst>
          </a:prstGeom>
          <a:solidFill>
            <a:srgbClr val="F43F5E">
              <a:alpha val="2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3171527" y="4224635"/>
            <a:ext cx="792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b="1" dirty="0">
                <a:solidFill>
                  <a:srgbClr val="F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3476923" y="4234160"/>
            <a:ext cx="19027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 &amp; Governance</a:t>
            </a: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Value &amp; Trust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49601" y="989707"/>
            <a:ext cx="1244650" cy="393502"/>
          </a:xfrm>
          <a:prstGeom prst="roundRect">
            <a:avLst>
              <a:gd name="adj" fmla="val 45184"/>
            </a:avLst>
          </a:prstGeom>
          <a:solidFill>
            <a:srgbClr val="6366F1">
              <a:alpha val="15000"/>
            </a:srgbClr>
          </a:solidFill>
          <a:ln w="9525">
            <a:solidFill>
              <a:srgbClr val="6366F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86076" y="1138833"/>
            <a:ext cx="99113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CONTEXT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2679055" y="1695450"/>
            <a:ext cx="3861456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660"/>
              </a:spcBef>
              <a:spcAft>
                <a:spcPts val="1660"/>
              </a:spcAft>
              <a:buNone/>
            </a:pPr>
            <a:r>
              <a:rPr lang="en-US" sz="20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Era of Cognitive Autonomy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592531" y="2277666"/>
            <a:ext cx="595878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600"/>
              </a:spcBef>
              <a:spcAft>
                <a:spcPts val="16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has shifted from experimental pilots to production-grade autonomous systems delivering measurable P&amp;L impact.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44474" y="3026866"/>
            <a:ext cx="1787652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200"/>
              </a:spcBef>
              <a:spcAft>
                <a:spcPts val="2200"/>
              </a:spcAft>
              <a:buNone/>
            </a:pPr>
            <a:r>
              <a:rPr lang="en-US" sz="22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44474" y="3630067"/>
            <a:ext cx="178765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3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apps with agentic capabilities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2700223" y="3026866"/>
            <a:ext cx="1787804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200"/>
              </a:spcBef>
              <a:spcAft>
                <a:spcPts val="2200"/>
              </a:spcAft>
              <a:buNone/>
            </a:pPr>
            <a:r>
              <a:rPr lang="en-US" sz="22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$3-5T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700223" y="3630067"/>
            <a:ext cx="178780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3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Agentic Commerce revenue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656124" y="3026866"/>
            <a:ext cx="1787652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200"/>
              </a:spcBef>
              <a:spcAft>
                <a:spcPts val="2200"/>
              </a:spcAft>
              <a:buNone/>
            </a:pPr>
            <a:r>
              <a:rPr lang="en-US" sz="22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3.5x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656124" y="3630067"/>
            <a:ext cx="178765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3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 per $1 invested in Agentic AI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6611874" y="3026866"/>
            <a:ext cx="1787652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200"/>
              </a:spcBef>
              <a:spcAft>
                <a:spcPts val="2200"/>
              </a:spcAft>
              <a:buNone/>
            </a:pPr>
            <a:r>
              <a:rPr lang="en-US" sz="22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611874" y="3630067"/>
            <a:ext cx="178765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3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decisions made autonomously by AI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3566666" y="3991868"/>
            <a:ext cx="205073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400"/>
              </a:spcBef>
              <a:spcAft>
                <a:spcPts val="600"/>
              </a:spcAft>
              <a:buNone/>
            </a:pPr>
            <a:r>
              <a:rPr lang="en-US" sz="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Gartner, McKinsey, Deloitte, Neurons Lab — 2026</a:t>
            </a:r>
            <a:endParaRPr lang="en-US" sz="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0EE2B6-3B58-83B8-6B67-8A7690E74A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639A447-2648-7575-354A-ED1E582F2FF7}"/>
              </a:ext>
            </a:extLst>
          </p:cNvPr>
          <p:cNvSpPr/>
          <p:nvPr/>
        </p:nvSpPr>
        <p:spPr>
          <a:xfrm>
            <a:off x="3949601" y="989707"/>
            <a:ext cx="1244650" cy="393502"/>
          </a:xfrm>
          <a:prstGeom prst="roundRect">
            <a:avLst>
              <a:gd name="adj" fmla="val 45184"/>
            </a:avLst>
          </a:prstGeom>
          <a:solidFill>
            <a:srgbClr val="6366F1">
              <a:alpha val="15000"/>
            </a:srgbClr>
          </a:solidFill>
          <a:ln w="9525">
            <a:solidFill>
              <a:srgbClr val="6366F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DF58A0D-A260-0F23-6548-9F90B8259F87}"/>
              </a:ext>
            </a:extLst>
          </p:cNvPr>
          <p:cNvSpPr/>
          <p:nvPr/>
        </p:nvSpPr>
        <p:spPr>
          <a:xfrm>
            <a:off x="4086076" y="1138833"/>
            <a:ext cx="99113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CONTEXT</a:t>
            </a:r>
            <a:endParaRPr lang="en-US" sz="7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42AD4AC-36F7-033A-7AF7-CCEF987900BF}"/>
              </a:ext>
            </a:extLst>
          </p:cNvPr>
          <p:cNvSpPr/>
          <p:nvPr/>
        </p:nvSpPr>
        <p:spPr>
          <a:xfrm>
            <a:off x="2679055" y="1695450"/>
            <a:ext cx="3861456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660"/>
              </a:spcBef>
              <a:spcAft>
                <a:spcPts val="1660"/>
              </a:spcAft>
              <a:buNone/>
            </a:pPr>
            <a:r>
              <a:rPr lang="en-US" sz="20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Era of Cognitive Autonomy</a:t>
            </a:r>
            <a:endParaRPr lang="en-US" sz="20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2E0D7E4-2B4A-2C94-7DA0-6A8994331ADD}"/>
              </a:ext>
            </a:extLst>
          </p:cNvPr>
          <p:cNvSpPr/>
          <p:nvPr/>
        </p:nvSpPr>
        <p:spPr>
          <a:xfrm>
            <a:off x="1592531" y="2277666"/>
            <a:ext cx="595878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600"/>
              </a:spcBef>
              <a:spcAft>
                <a:spcPts val="16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has shifted from experimental pilots to production-grade autonomous systems delivering measurable P&amp;L impact.</a:t>
            </a:r>
            <a:endParaRPr lang="en-US" sz="9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8D655D6-DD4B-626E-A53A-6B627BD64977}"/>
              </a:ext>
            </a:extLst>
          </p:cNvPr>
          <p:cNvSpPr/>
          <p:nvPr/>
        </p:nvSpPr>
        <p:spPr>
          <a:xfrm>
            <a:off x="744474" y="3026866"/>
            <a:ext cx="1787652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200"/>
              </a:spcBef>
              <a:spcAft>
                <a:spcPts val="2200"/>
              </a:spcAft>
              <a:buNone/>
            </a:pPr>
            <a:r>
              <a:rPr lang="en-US" sz="22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22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A26F5A4B-6EC9-5D5F-255B-2049F62474AB}"/>
              </a:ext>
            </a:extLst>
          </p:cNvPr>
          <p:cNvSpPr/>
          <p:nvPr/>
        </p:nvSpPr>
        <p:spPr>
          <a:xfrm>
            <a:off x="744474" y="3630067"/>
            <a:ext cx="178765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3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apps with agentic capabilities</a:t>
            </a:r>
            <a:endParaRPr lang="en-US" sz="7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2164E866-D0AD-6349-D17E-A57AAF3BE87B}"/>
              </a:ext>
            </a:extLst>
          </p:cNvPr>
          <p:cNvSpPr/>
          <p:nvPr/>
        </p:nvSpPr>
        <p:spPr>
          <a:xfrm>
            <a:off x="2700223" y="3026866"/>
            <a:ext cx="1787804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200"/>
              </a:spcBef>
              <a:spcAft>
                <a:spcPts val="2200"/>
              </a:spcAft>
              <a:buNone/>
            </a:pPr>
            <a:r>
              <a:rPr lang="en-US" sz="22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$3-5T</a:t>
            </a:r>
            <a:endParaRPr lang="en-US" sz="22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AC75B804-1EDD-3116-9496-50244596565C}"/>
              </a:ext>
            </a:extLst>
          </p:cNvPr>
          <p:cNvSpPr/>
          <p:nvPr/>
        </p:nvSpPr>
        <p:spPr>
          <a:xfrm>
            <a:off x="2700223" y="3630067"/>
            <a:ext cx="178780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3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Agentic Commerce revenue</a:t>
            </a:r>
            <a:endParaRPr lang="en-US" sz="7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67077E1C-C2F0-6F34-9B26-35E33728653F}"/>
              </a:ext>
            </a:extLst>
          </p:cNvPr>
          <p:cNvSpPr/>
          <p:nvPr/>
        </p:nvSpPr>
        <p:spPr>
          <a:xfrm>
            <a:off x="4656124" y="3026866"/>
            <a:ext cx="1787652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200"/>
              </a:spcBef>
              <a:spcAft>
                <a:spcPts val="2200"/>
              </a:spcAft>
              <a:buNone/>
            </a:pPr>
            <a:r>
              <a:rPr lang="en-US" sz="22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3.5x</a:t>
            </a:r>
            <a:endParaRPr lang="en-US" sz="22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2D461B45-1A98-C3FB-0F1A-8BE1506459B9}"/>
              </a:ext>
            </a:extLst>
          </p:cNvPr>
          <p:cNvSpPr/>
          <p:nvPr/>
        </p:nvSpPr>
        <p:spPr>
          <a:xfrm>
            <a:off x="4656124" y="3630067"/>
            <a:ext cx="178765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3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 per $1 invested in Agentic AI</a:t>
            </a:r>
            <a:endParaRPr lang="en-US" sz="7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8478687E-2DF0-9E0C-CC67-69FE9DBCD5CA}"/>
              </a:ext>
            </a:extLst>
          </p:cNvPr>
          <p:cNvSpPr/>
          <p:nvPr/>
        </p:nvSpPr>
        <p:spPr>
          <a:xfrm>
            <a:off x="6611874" y="3026866"/>
            <a:ext cx="1787652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200"/>
              </a:spcBef>
              <a:spcAft>
                <a:spcPts val="2200"/>
              </a:spcAft>
              <a:buNone/>
            </a:pPr>
            <a:r>
              <a:rPr lang="en-US" sz="22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22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C030E0FA-51E8-0F33-51B4-50C501752BAE}"/>
              </a:ext>
            </a:extLst>
          </p:cNvPr>
          <p:cNvSpPr/>
          <p:nvPr/>
        </p:nvSpPr>
        <p:spPr>
          <a:xfrm>
            <a:off x="6611874" y="3630067"/>
            <a:ext cx="178765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3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decisions made autonomously by AI</a:t>
            </a:r>
            <a:endParaRPr lang="en-US" sz="7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6D63699A-DC04-1136-1056-B853E9564BC0}"/>
              </a:ext>
            </a:extLst>
          </p:cNvPr>
          <p:cNvSpPr/>
          <p:nvPr/>
        </p:nvSpPr>
        <p:spPr>
          <a:xfrm>
            <a:off x="3566666" y="3991868"/>
            <a:ext cx="205073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400"/>
              </a:spcBef>
              <a:spcAft>
                <a:spcPts val="600"/>
              </a:spcAft>
              <a:buNone/>
            </a:pPr>
            <a:r>
              <a:rPr lang="en-US" sz="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Gartner, McKinsey, Deloitte, Neurons Lab — 2026</a:t>
            </a:r>
            <a:endParaRPr lang="en-US" sz="600" dirty="0"/>
          </a:p>
        </p:txBody>
      </p:sp>
    </p:spTree>
    <p:extLst>
      <p:ext uri="{BB962C8B-B14F-4D97-AF65-F5344CB8AC3E}">
        <p14:creationId xmlns:p14="http://schemas.microsoft.com/office/powerpoint/2010/main" val="18899366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49601" y="304800"/>
            <a:ext cx="1244650" cy="393502"/>
          </a:xfrm>
          <a:prstGeom prst="roundRect">
            <a:avLst>
              <a:gd name="adj" fmla="val 45184"/>
            </a:avLst>
          </a:prstGeom>
          <a:solidFill>
            <a:srgbClr val="6366F1">
              <a:alpha val="15000"/>
            </a:srgbClr>
          </a:solidFill>
          <a:ln w="9525">
            <a:solidFill>
              <a:srgbClr val="6366F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86076" y="453926"/>
            <a:ext cx="99113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CONTEXT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547318" y="989409"/>
            <a:ext cx="209035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494"/>
              </a:spcBef>
              <a:spcAft>
                <a:spcPts val="1494"/>
              </a:spcAft>
              <a:buNone/>
            </a:pPr>
            <a:r>
              <a:rPr lang="en-US" sz="1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Agentic Divide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371137" y="1483816"/>
            <a:ext cx="440157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300"/>
              </a:spcBef>
              <a:spcAft>
                <a:spcPts val="400"/>
              </a:spcAft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stark gap is emerging between organizations that rewire around AI vs. those treating it as an add-on.</a:t>
            </a:r>
            <a:endParaRPr lang="en-US" sz="750" dirty="0"/>
          </a:p>
        </p:txBody>
      </p:sp>
      <p:pic>
        <p:nvPicPr>
          <p:cNvPr id="6" name="Image 0" descr="/Users/nguyenhuyvu/Library/CloudStorage/OneDrive-VNGCorporation/Apps/mygit/a4b-doc-xtalent/product/xTalent/docs/_research/SEP/assets/agentic_divid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1639342"/>
            <a:ext cx="3048000" cy="304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22986" y="355550"/>
            <a:ext cx="898029" cy="393502"/>
          </a:xfrm>
          <a:prstGeom prst="roundRect">
            <a:avLst>
              <a:gd name="adj" fmla="val 45184"/>
            </a:avLst>
          </a:prstGeom>
          <a:solidFill>
            <a:srgbClr val="6366F1">
              <a:alpha val="15000"/>
            </a:srgbClr>
          </a:solidFill>
          <a:ln w="9525">
            <a:solidFill>
              <a:srgbClr val="6366F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259461" y="504676"/>
            <a:ext cx="63758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VISION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2514137" y="1040160"/>
            <a:ext cx="411557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1494"/>
              </a:spcBef>
              <a:spcAft>
                <a:spcPts val="1494"/>
              </a:spcAft>
              <a:buNone/>
            </a:pPr>
            <a:r>
              <a:rPr lang="en-US" sz="1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xTalent on the Self-Evolving Platform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171664" y="1547217"/>
            <a:ext cx="480067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400"/>
              </a:spcBef>
              <a:spcAft>
                <a:spcPts val="1000"/>
              </a:spcAft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that understands, learns, and evolves — transforming HCM from a static tool to a living system.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1788468"/>
            <a:ext cx="2624733" cy="997744"/>
          </a:xfrm>
          <a:prstGeom prst="roundRect">
            <a:avLst>
              <a:gd name="adj" fmla="val 12729"/>
            </a:avLst>
          </a:prstGeom>
          <a:solidFill>
            <a:srgbClr val="1A22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07950" y="1793230"/>
            <a:ext cx="2624733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8" name="Shape 6"/>
          <p:cNvSpPr/>
          <p:nvPr/>
        </p:nvSpPr>
        <p:spPr>
          <a:xfrm>
            <a:off x="3127921" y="1788468"/>
            <a:ext cx="0" cy="997744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9" name="Shape 7"/>
          <p:cNvSpPr/>
          <p:nvPr/>
        </p:nvSpPr>
        <p:spPr>
          <a:xfrm>
            <a:off x="507950" y="2781449"/>
            <a:ext cx="2624733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0" name="Shape 8"/>
          <p:cNvSpPr/>
          <p:nvPr/>
        </p:nvSpPr>
        <p:spPr>
          <a:xfrm>
            <a:off x="527000" y="1788468"/>
            <a:ext cx="0" cy="997744"/>
          </a:xfrm>
          <a:prstGeom prst="line">
            <a:avLst/>
          </a:prstGeom>
          <a:noFill/>
          <a:ln w="381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1" name="Text 9"/>
          <p:cNvSpPr/>
          <p:nvPr/>
        </p:nvSpPr>
        <p:spPr>
          <a:xfrm>
            <a:off x="698450" y="2064693"/>
            <a:ext cx="231775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900"/>
              </a:spcBef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Self-Understanding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98450" y="2286893"/>
            <a:ext cx="2317754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Agents comprehend HR processes like a domain expert through Ontology-Driven Knowledge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3259634" y="1788468"/>
            <a:ext cx="2624733" cy="997744"/>
          </a:xfrm>
          <a:prstGeom prst="roundRect">
            <a:avLst>
              <a:gd name="adj" fmla="val 12729"/>
            </a:avLst>
          </a:prstGeom>
          <a:solidFill>
            <a:srgbClr val="1A22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3259634" y="1793230"/>
            <a:ext cx="2624733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5" name="Shape 13"/>
          <p:cNvSpPr/>
          <p:nvPr/>
        </p:nvSpPr>
        <p:spPr>
          <a:xfrm>
            <a:off x="5879604" y="1788468"/>
            <a:ext cx="0" cy="997744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6" name="Shape 14"/>
          <p:cNvSpPr/>
          <p:nvPr/>
        </p:nvSpPr>
        <p:spPr>
          <a:xfrm>
            <a:off x="3259634" y="2781449"/>
            <a:ext cx="2624733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7" name="Shape 15"/>
          <p:cNvSpPr/>
          <p:nvPr/>
        </p:nvSpPr>
        <p:spPr>
          <a:xfrm>
            <a:off x="3278684" y="1788468"/>
            <a:ext cx="0" cy="997744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8" name="Text 16"/>
          <p:cNvSpPr/>
          <p:nvPr/>
        </p:nvSpPr>
        <p:spPr>
          <a:xfrm>
            <a:off x="3450134" y="2064693"/>
            <a:ext cx="231775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900"/>
              </a:spcBef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Self-Adapting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450134" y="2286893"/>
            <a:ext cx="2317754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Interfaces generate in real-time based on user intent — from fixed screens to AI-created views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6011317" y="1788468"/>
            <a:ext cx="2624733" cy="997744"/>
          </a:xfrm>
          <a:prstGeom prst="roundRect">
            <a:avLst>
              <a:gd name="adj" fmla="val 12729"/>
            </a:avLst>
          </a:prstGeom>
          <a:solidFill>
            <a:srgbClr val="1A22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6011317" y="1793230"/>
            <a:ext cx="2624733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2" name="Shape 20"/>
          <p:cNvSpPr/>
          <p:nvPr/>
        </p:nvSpPr>
        <p:spPr>
          <a:xfrm>
            <a:off x="8631287" y="1788468"/>
            <a:ext cx="0" cy="997744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3" name="Shape 21"/>
          <p:cNvSpPr/>
          <p:nvPr/>
        </p:nvSpPr>
        <p:spPr>
          <a:xfrm>
            <a:off x="6011317" y="2781449"/>
            <a:ext cx="2624733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4" name="Shape 22"/>
          <p:cNvSpPr/>
          <p:nvPr/>
        </p:nvSpPr>
        <p:spPr>
          <a:xfrm>
            <a:off x="6030367" y="1788468"/>
            <a:ext cx="0" cy="997744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5" name="Text 23"/>
          <p:cNvSpPr/>
          <p:nvPr/>
        </p:nvSpPr>
        <p:spPr>
          <a:xfrm>
            <a:off x="6201817" y="2064693"/>
            <a:ext cx="231775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900"/>
              </a:spcBef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Self-Orchestrating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201817" y="2286893"/>
            <a:ext cx="2317754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Multi-agent workflows coordinate across HR functions — onboarding, payroll, compliance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3302050" y="2913162"/>
            <a:ext cx="2539901" cy="997744"/>
          </a:xfrm>
          <a:prstGeom prst="roundRect">
            <a:avLst>
              <a:gd name="adj" fmla="val 12729"/>
            </a:avLst>
          </a:prstGeom>
          <a:solidFill>
            <a:srgbClr val="1A22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3302050" y="2917924"/>
            <a:ext cx="2539901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9" name="Shape 27"/>
          <p:cNvSpPr/>
          <p:nvPr/>
        </p:nvSpPr>
        <p:spPr>
          <a:xfrm>
            <a:off x="5837188" y="2913162"/>
            <a:ext cx="0" cy="997744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0" name="Shape 28"/>
          <p:cNvSpPr/>
          <p:nvPr/>
        </p:nvSpPr>
        <p:spPr>
          <a:xfrm>
            <a:off x="3302050" y="3906143"/>
            <a:ext cx="2539901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1" name="Shape 29"/>
          <p:cNvSpPr/>
          <p:nvPr/>
        </p:nvSpPr>
        <p:spPr>
          <a:xfrm>
            <a:off x="3321100" y="2913162"/>
            <a:ext cx="0" cy="997744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2" name="Text 30"/>
          <p:cNvSpPr/>
          <p:nvPr/>
        </p:nvSpPr>
        <p:spPr>
          <a:xfrm>
            <a:off x="3492550" y="3189387"/>
            <a:ext cx="223122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900"/>
              </a:spcBef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Self-Managing Data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492550" y="3411587"/>
            <a:ext cx="2231225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Multi-modal data architecture grows organically — from ACID databases to AI-native vector stores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24015" y="304800"/>
            <a:ext cx="1095970" cy="393502"/>
          </a:xfrm>
          <a:prstGeom prst="roundRect">
            <a:avLst>
              <a:gd name="adj" fmla="val 45184"/>
            </a:avLst>
          </a:prstGeom>
          <a:solidFill>
            <a:srgbClr val="6366F1">
              <a:alpha val="15000"/>
            </a:srgbClr>
          </a:solidFill>
          <a:ln w="9525">
            <a:solidFill>
              <a:srgbClr val="6366F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160490" y="453926"/>
            <a:ext cx="83948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378101" y="989409"/>
            <a:ext cx="243555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494"/>
              </a:spcBef>
              <a:spcAft>
                <a:spcPts val="1494"/>
              </a:spcAft>
              <a:buNone/>
            </a:pPr>
            <a:r>
              <a:rPr lang="en-US" sz="1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Four-Layer Model</a:t>
            </a:r>
            <a:endParaRPr lang="en-US" sz="1800" dirty="0"/>
          </a:p>
        </p:txBody>
      </p:sp>
      <p:pic>
        <p:nvPicPr>
          <p:cNvPr id="5" name="Image 0" descr="/Users/nguyenhuyvu/Library/CloudStorage/OneDrive-VNGCorporation/Apps/mygit/a4b-doc-xtalent/product/xTalent/docs/_research/SEP/assets/architecture_overvie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4450" y="1496467"/>
            <a:ext cx="3174950" cy="31749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304800"/>
            <a:ext cx="8280499" cy="393502"/>
          </a:xfrm>
          <a:prstGeom prst="roundRect">
            <a:avLst>
              <a:gd name="adj" fmla="val 45184"/>
            </a:avLst>
          </a:prstGeom>
          <a:solidFill>
            <a:srgbClr val="6366F1">
              <a:alpha val="15000"/>
            </a:srgbClr>
          </a:solidFill>
          <a:ln w="9525">
            <a:solidFill>
              <a:srgbClr val="6366F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68226" y="453926"/>
            <a:ext cx="816769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1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31750" y="989409"/>
            <a:ext cx="844610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494"/>
              </a:spcBef>
              <a:spcAft>
                <a:spcPts val="1494"/>
              </a:spcAft>
              <a:buNone/>
            </a:pPr>
            <a:r>
              <a:rPr lang="en-US" sz="1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Ontology-Driven Knowledge Layer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31750" y="1496467"/>
            <a:ext cx="844610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00"/>
              </a:spcBef>
              <a:spcAft>
                <a:spcPts val="1000"/>
              </a:spcAft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"semantic brain" — enabling AI Agents to understand HR domain as deeply as a subject matter expert.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31750" y="1737717"/>
            <a:ext cx="1574899" cy="868263"/>
          </a:xfrm>
          <a:prstGeom prst="roundRect">
            <a:avLst>
              <a:gd name="adj" fmla="val 11702"/>
            </a:avLst>
          </a:prstGeom>
          <a:solidFill>
            <a:srgbClr val="1A22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31750" y="1742480"/>
            <a:ext cx="1574899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8" name="Shape 6"/>
          <p:cNvSpPr/>
          <p:nvPr/>
        </p:nvSpPr>
        <p:spPr>
          <a:xfrm>
            <a:off x="2001887" y="1737717"/>
            <a:ext cx="0" cy="868263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9" name="Shape 7"/>
          <p:cNvSpPr/>
          <p:nvPr/>
        </p:nvSpPr>
        <p:spPr>
          <a:xfrm>
            <a:off x="431750" y="2601218"/>
            <a:ext cx="1574899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0" name="Shape 8"/>
          <p:cNvSpPr/>
          <p:nvPr/>
        </p:nvSpPr>
        <p:spPr>
          <a:xfrm>
            <a:off x="450800" y="1737717"/>
            <a:ext cx="0" cy="868263"/>
          </a:xfrm>
          <a:prstGeom prst="line">
            <a:avLst/>
          </a:prstGeom>
          <a:noFill/>
          <a:ln w="381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1" name="Text 9"/>
          <p:cNvSpPr/>
          <p:nvPr/>
        </p:nvSpPr>
        <p:spPr>
          <a:xfrm>
            <a:off x="596801" y="1975693"/>
            <a:ext cx="129884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800"/>
              </a:spcBef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Ontology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96801" y="2172444"/>
            <a:ext cx="1298841" cy="214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5"/>
              </a:lnSpc>
              <a:spcBef>
                <a:spcPts val="650"/>
              </a:spcBef>
              <a:spcAft>
                <a:spcPts val="650"/>
              </a:spcAft>
              <a:buNone/>
            </a:pPr>
            <a:r>
              <a:rPr lang="en-US" sz="6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Formal HR entity models in LinkML/OWL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2108150" y="1737717"/>
            <a:ext cx="1574899" cy="868263"/>
          </a:xfrm>
          <a:prstGeom prst="roundRect">
            <a:avLst>
              <a:gd name="adj" fmla="val 11702"/>
            </a:avLst>
          </a:prstGeom>
          <a:solidFill>
            <a:srgbClr val="1A22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2108150" y="1742480"/>
            <a:ext cx="1574899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5" name="Shape 13"/>
          <p:cNvSpPr/>
          <p:nvPr/>
        </p:nvSpPr>
        <p:spPr>
          <a:xfrm>
            <a:off x="3678287" y="1737717"/>
            <a:ext cx="0" cy="868263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6" name="Shape 14"/>
          <p:cNvSpPr/>
          <p:nvPr/>
        </p:nvSpPr>
        <p:spPr>
          <a:xfrm>
            <a:off x="2108150" y="2601218"/>
            <a:ext cx="1574899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7" name="Shape 15"/>
          <p:cNvSpPr/>
          <p:nvPr/>
        </p:nvSpPr>
        <p:spPr>
          <a:xfrm>
            <a:off x="2127200" y="1737717"/>
            <a:ext cx="0" cy="868263"/>
          </a:xfrm>
          <a:prstGeom prst="line">
            <a:avLst/>
          </a:prstGeom>
          <a:noFill/>
          <a:ln w="381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8" name="Text 16"/>
          <p:cNvSpPr/>
          <p:nvPr/>
        </p:nvSpPr>
        <p:spPr>
          <a:xfrm>
            <a:off x="2273201" y="1975693"/>
            <a:ext cx="129884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800"/>
              </a:spcBef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Layer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273201" y="2172444"/>
            <a:ext cx="1298841" cy="214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5"/>
              </a:lnSpc>
              <a:spcBef>
                <a:spcPts val="650"/>
              </a:spcBef>
              <a:spcAft>
                <a:spcPts val="650"/>
              </a:spcAft>
              <a:buNone/>
            </a:pPr>
            <a:r>
              <a:rPr lang="en-US" sz="6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terms to technical data mapping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3784550" y="1737717"/>
            <a:ext cx="1574899" cy="868263"/>
          </a:xfrm>
          <a:prstGeom prst="roundRect">
            <a:avLst>
              <a:gd name="adj" fmla="val 11702"/>
            </a:avLst>
          </a:prstGeom>
          <a:solidFill>
            <a:srgbClr val="1A22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3784550" y="1742480"/>
            <a:ext cx="1574899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2" name="Shape 20"/>
          <p:cNvSpPr/>
          <p:nvPr/>
        </p:nvSpPr>
        <p:spPr>
          <a:xfrm>
            <a:off x="5354687" y="1737717"/>
            <a:ext cx="0" cy="868263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3" name="Shape 21"/>
          <p:cNvSpPr/>
          <p:nvPr/>
        </p:nvSpPr>
        <p:spPr>
          <a:xfrm>
            <a:off x="3784550" y="2601218"/>
            <a:ext cx="1574899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4" name="Shape 22"/>
          <p:cNvSpPr/>
          <p:nvPr/>
        </p:nvSpPr>
        <p:spPr>
          <a:xfrm>
            <a:off x="3803600" y="1737717"/>
            <a:ext cx="0" cy="868263"/>
          </a:xfrm>
          <a:prstGeom prst="line">
            <a:avLst/>
          </a:prstGeom>
          <a:noFill/>
          <a:ln w="381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5" name="Text 23"/>
          <p:cNvSpPr/>
          <p:nvPr/>
        </p:nvSpPr>
        <p:spPr>
          <a:xfrm>
            <a:off x="3949601" y="1975693"/>
            <a:ext cx="129884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800"/>
              </a:spcBef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Graph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949601" y="2172444"/>
            <a:ext cx="1298841" cy="214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5"/>
              </a:lnSpc>
              <a:spcBef>
                <a:spcPts val="650"/>
              </a:spcBef>
              <a:spcAft>
                <a:spcPts val="650"/>
              </a:spcAft>
              <a:buNone/>
            </a:pPr>
            <a:r>
              <a:rPr lang="en-US" sz="6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Employee, Position, Dept relationships</a:t>
            </a:r>
            <a:endParaRPr lang="en-US" sz="650" dirty="0"/>
          </a:p>
        </p:txBody>
      </p:sp>
      <p:sp>
        <p:nvSpPr>
          <p:cNvPr id="27" name="Text 25"/>
          <p:cNvSpPr/>
          <p:nvPr/>
        </p:nvSpPr>
        <p:spPr>
          <a:xfrm>
            <a:off x="5460950" y="1737717"/>
            <a:ext cx="1574899" cy="868263"/>
          </a:xfrm>
          <a:prstGeom prst="roundRect">
            <a:avLst>
              <a:gd name="adj" fmla="val 11702"/>
            </a:avLst>
          </a:prstGeom>
          <a:solidFill>
            <a:srgbClr val="1A22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5460950" y="1742480"/>
            <a:ext cx="1574899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9" name="Shape 27"/>
          <p:cNvSpPr/>
          <p:nvPr/>
        </p:nvSpPr>
        <p:spPr>
          <a:xfrm>
            <a:off x="7031087" y="1737717"/>
            <a:ext cx="0" cy="868263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0" name="Shape 28"/>
          <p:cNvSpPr/>
          <p:nvPr/>
        </p:nvSpPr>
        <p:spPr>
          <a:xfrm>
            <a:off x="5460950" y="2601218"/>
            <a:ext cx="1574899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1" name="Shape 29"/>
          <p:cNvSpPr/>
          <p:nvPr/>
        </p:nvSpPr>
        <p:spPr>
          <a:xfrm>
            <a:off x="5480000" y="1737717"/>
            <a:ext cx="0" cy="868263"/>
          </a:xfrm>
          <a:prstGeom prst="line">
            <a:avLst/>
          </a:prstGeom>
          <a:noFill/>
          <a:ln w="381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2" name="Text 30"/>
          <p:cNvSpPr/>
          <p:nvPr/>
        </p:nvSpPr>
        <p:spPr>
          <a:xfrm>
            <a:off x="5626001" y="1975693"/>
            <a:ext cx="129884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800"/>
              </a:spcBef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 Engine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626001" y="2172444"/>
            <a:ext cx="1298841" cy="214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5"/>
              </a:lnSpc>
              <a:spcBef>
                <a:spcPts val="650"/>
              </a:spcBef>
              <a:spcAft>
                <a:spcPts val="650"/>
              </a:spcAft>
              <a:buNone/>
            </a:pPr>
            <a:r>
              <a:rPr lang="en-US" sz="6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Encoded labor law and policy guardrails</a:t>
            </a:r>
            <a:endParaRPr lang="en-US" sz="650" dirty="0"/>
          </a:p>
        </p:txBody>
      </p:sp>
      <p:sp>
        <p:nvSpPr>
          <p:cNvPr id="34" name="Text 32"/>
          <p:cNvSpPr/>
          <p:nvPr/>
        </p:nvSpPr>
        <p:spPr>
          <a:xfrm>
            <a:off x="7137350" y="1737717"/>
            <a:ext cx="1574899" cy="868263"/>
          </a:xfrm>
          <a:prstGeom prst="roundRect">
            <a:avLst>
              <a:gd name="adj" fmla="val 11702"/>
            </a:avLst>
          </a:prstGeom>
          <a:solidFill>
            <a:srgbClr val="1A22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Shape 33"/>
          <p:cNvSpPr/>
          <p:nvPr/>
        </p:nvSpPr>
        <p:spPr>
          <a:xfrm>
            <a:off x="7137350" y="1742480"/>
            <a:ext cx="1574899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6" name="Shape 34"/>
          <p:cNvSpPr/>
          <p:nvPr/>
        </p:nvSpPr>
        <p:spPr>
          <a:xfrm>
            <a:off x="8707487" y="1737717"/>
            <a:ext cx="0" cy="868263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7" name="Shape 35"/>
          <p:cNvSpPr/>
          <p:nvPr/>
        </p:nvSpPr>
        <p:spPr>
          <a:xfrm>
            <a:off x="7137350" y="2601218"/>
            <a:ext cx="1574899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8" name="Shape 36"/>
          <p:cNvSpPr/>
          <p:nvPr/>
        </p:nvSpPr>
        <p:spPr>
          <a:xfrm>
            <a:off x="7156400" y="1737717"/>
            <a:ext cx="0" cy="868263"/>
          </a:xfrm>
          <a:prstGeom prst="line">
            <a:avLst/>
          </a:prstGeom>
          <a:noFill/>
          <a:ln w="381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9" name="Text 37"/>
          <p:cNvSpPr/>
          <p:nvPr/>
        </p:nvSpPr>
        <p:spPr>
          <a:xfrm>
            <a:off x="7302401" y="1975693"/>
            <a:ext cx="129884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800"/>
              </a:spcBef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Cognitive API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7302401" y="2172444"/>
            <a:ext cx="1298841" cy="107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5"/>
              </a:lnSpc>
              <a:spcBef>
                <a:spcPts val="650"/>
              </a:spcBef>
              <a:spcAft>
                <a:spcPts val="650"/>
              </a:spcAft>
              <a:buNone/>
            </a:pPr>
            <a:r>
              <a:rPr lang="en-US" sz="6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SME-as-a-Service for any Agent</a:t>
            </a:r>
            <a:endParaRPr lang="en-US" sz="650" dirty="0"/>
          </a:p>
        </p:txBody>
      </p:sp>
      <p:sp>
        <p:nvSpPr>
          <p:cNvPr id="41" name="Text 39"/>
          <p:cNvSpPr/>
          <p:nvPr/>
        </p:nvSpPr>
        <p:spPr>
          <a:xfrm>
            <a:off x="431750" y="2732931"/>
            <a:ext cx="844610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this layer, AI is surface-level automation. With it, AI becomes a domain-aware decision partner.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16301" y="279350"/>
            <a:ext cx="711250" cy="393502"/>
          </a:xfrm>
          <a:prstGeom prst="roundRect">
            <a:avLst>
              <a:gd name="adj" fmla="val 45184"/>
            </a:avLst>
          </a:prstGeom>
          <a:solidFill>
            <a:srgbClr val="6366F1">
              <a:alpha val="15000"/>
            </a:srgbClr>
          </a:solidFill>
          <a:ln w="9525">
            <a:solidFill>
              <a:srgbClr val="6366F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52776" y="428476"/>
            <a:ext cx="44706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2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2455387" y="953542"/>
            <a:ext cx="423322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1411"/>
              </a:spcBef>
              <a:spcAft>
                <a:spcPts val="1411"/>
              </a:spcAft>
              <a:buNone/>
            </a:pPr>
            <a:r>
              <a:rPr lang="en-US" sz="1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 UI Layer — The 30-60-10 Model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99146" y="1428006"/>
            <a:ext cx="394570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right interface, to the right user, at the right time — balancing consistency with flexibility.</a:t>
            </a:r>
            <a:endParaRPr lang="en-US" sz="750" dirty="0"/>
          </a:p>
        </p:txBody>
      </p:sp>
      <p:pic>
        <p:nvPicPr>
          <p:cNvPr id="6" name="Image 0" descr="/Users/nguyenhuyvu/Library/CloudStorage/OneDrive-VNGCorporation/Apps/mygit/a4b-doc-xtalent/product/xTalent/docs/_research/SEP/assets/ui_distribu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750" y="1608981"/>
            <a:ext cx="3048000" cy="3048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06701" y="1608981"/>
            <a:ext cx="5105549" cy="694283"/>
          </a:xfrm>
          <a:prstGeom prst="roundRect">
            <a:avLst>
              <a:gd name="adj" fmla="val 14634"/>
            </a:avLst>
          </a:prstGeom>
          <a:solidFill>
            <a:srgbClr val="1A22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3606701" y="1613743"/>
            <a:ext cx="5105549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9" name="Shape 6"/>
          <p:cNvSpPr/>
          <p:nvPr/>
        </p:nvSpPr>
        <p:spPr>
          <a:xfrm>
            <a:off x="8707487" y="1608981"/>
            <a:ext cx="0" cy="694283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0" name="Shape 7"/>
          <p:cNvSpPr/>
          <p:nvPr/>
        </p:nvSpPr>
        <p:spPr>
          <a:xfrm>
            <a:off x="3606701" y="2298502"/>
            <a:ext cx="5105549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1" name="Shape 8"/>
          <p:cNvSpPr/>
          <p:nvPr/>
        </p:nvSpPr>
        <p:spPr>
          <a:xfrm>
            <a:off x="3625751" y="1608981"/>
            <a:ext cx="0" cy="694283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2" name="Text 9"/>
          <p:cNvSpPr/>
          <p:nvPr/>
        </p:nvSpPr>
        <p:spPr>
          <a:xfrm>
            <a:off x="3746302" y="1815257"/>
            <a:ext cx="495202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750"/>
              </a:spcBef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UI (Fixed) — 30%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3746302" y="2002482"/>
            <a:ext cx="4952021" cy="107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5"/>
              </a:lnSpc>
              <a:spcBef>
                <a:spcPts val="650"/>
              </a:spcBef>
              <a:spcAft>
                <a:spcPts val="650"/>
              </a:spcAft>
              <a:buNone/>
            </a:pPr>
            <a:r>
              <a:rPr lang="en-US" sz="6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Navigation, design system, brand identity. Built by developers.</a:t>
            </a:r>
            <a:endParaRPr lang="en-US" sz="650" dirty="0"/>
          </a:p>
        </p:txBody>
      </p:sp>
      <p:sp>
        <p:nvSpPr>
          <p:cNvPr id="14" name="Text 11"/>
          <p:cNvSpPr/>
          <p:nvPr/>
        </p:nvSpPr>
        <p:spPr>
          <a:xfrm>
            <a:off x="3606701" y="2366665"/>
            <a:ext cx="5105549" cy="694283"/>
          </a:xfrm>
          <a:prstGeom prst="roundRect">
            <a:avLst>
              <a:gd name="adj" fmla="val 14634"/>
            </a:avLst>
          </a:prstGeom>
          <a:solidFill>
            <a:srgbClr val="1A22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Shape 12"/>
          <p:cNvSpPr/>
          <p:nvPr/>
        </p:nvSpPr>
        <p:spPr>
          <a:xfrm>
            <a:off x="3606701" y="2371427"/>
            <a:ext cx="5105549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6" name="Shape 13"/>
          <p:cNvSpPr/>
          <p:nvPr/>
        </p:nvSpPr>
        <p:spPr>
          <a:xfrm>
            <a:off x="8707487" y="2366665"/>
            <a:ext cx="0" cy="694283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7" name="Shape 14"/>
          <p:cNvSpPr/>
          <p:nvPr/>
        </p:nvSpPr>
        <p:spPr>
          <a:xfrm>
            <a:off x="3606701" y="3056186"/>
            <a:ext cx="5105549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8" name="Shape 15"/>
          <p:cNvSpPr/>
          <p:nvPr/>
        </p:nvSpPr>
        <p:spPr>
          <a:xfrm>
            <a:off x="3625751" y="2366665"/>
            <a:ext cx="0" cy="694283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9" name="Text 16"/>
          <p:cNvSpPr/>
          <p:nvPr/>
        </p:nvSpPr>
        <p:spPr>
          <a:xfrm>
            <a:off x="3746302" y="2572941"/>
            <a:ext cx="495202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750"/>
              </a:spcBef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Configurable UI — 60%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3746302" y="2760166"/>
            <a:ext cx="4952021" cy="107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5"/>
              </a:lnSpc>
              <a:spcBef>
                <a:spcPts val="650"/>
              </a:spcBef>
              <a:spcAft>
                <a:spcPts val="650"/>
              </a:spcAft>
              <a:buNone/>
            </a:pPr>
            <a:r>
              <a:rPr lang="en-US" sz="6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JSON/Template-driven views. Admins customize without code.</a:t>
            </a:r>
            <a:endParaRPr lang="en-US" sz="650" dirty="0"/>
          </a:p>
        </p:txBody>
      </p:sp>
      <p:sp>
        <p:nvSpPr>
          <p:cNvPr id="21" name="Text 18"/>
          <p:cNvSpPr/>
          <p:nvPr/>
        </p:nvSpPr>
        <p:spPr>
          <a:xfrm>
            <a:off x="3606701" y="3124349"/>
            <a:ext cx="5105549" cy="694283"/>
          </a:xfrm>
          <a:prstGeom prst="roundRect">
            <a:avLst>
              <a:gd name="adj" fmla="val 14634"/>
            </a:avLst>
          </a:prstGeom>
          <a:solidFill>
            <a:srgbClr val="1A22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Shape 19"/>
          <p:cNvSpPr/>
          <p:nvPr/>
        </p:nvSpPr>
        <p:spPr>
          <a:xfrm>
            <a:off x="3606701" y="3129111"/>
            <a:ext cx="5105549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3" name="Shape 20"/>
          <p:cNvSpPr/>
          <p:nvPr/>
        </p:nvSpPr>
        <p:spPr>
          <a:xfrm>
            <a:off x="8707487" y="3124349"/>
            <a:ext cx="0" cy="694283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4" name="Shape 21"/>
          <p:cNvSpPr/>
          <p:nvPr/>
        </p:nvSpPr>
        <p:spPr>
          <a:xfrm>
            <a:off x="3606701" y="3813870"/>
            <a:ext cx="5105549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5" name="Shape 22"/>
          <p:cNvSpPr/>
          <p:nvPr/>
        </p:nvSpPr>
        <p:spPr>
          <a:xfrm>
            <a:off x="3625751" y="3124349"/>
            <a:ext cx="0" cy="694283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6" name="Text 23"/>
          <p:cNvSpPr/>
          <p:nvPr/>
        </p:nvSpPr>
        <p:spPr>
          <a:xfrm>
            <a:off x="3746302" y="3330625"/>
            <a:ext cx="495202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750"/>
              </a:spcBef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Generative UI (A2UI) — 10%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3746302" y="3517850"/>
            <a:ext cx="4952021" cy="107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5"/>
              </a:lnSpc>
              <a:spcBef>
                <a:spcPts val="650"/>
              </a:spcBef>
              <a:spcAft>
                <a:spcPts val="650"/>
              </a:spcAft>
              <a:buNone/>
            </a:pPr>
            <a:r>
              <a:rPr lang="en-US" sz="6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Agents create interfaces on-demand for long-tail needs.</a:t>
            </a:r>
            <a:endParaRPr lang="en-US" sz="650" dirty="0"/>
          </a:p>
        </p:txBody>
      </p:sp>
      <p:sp>
        <p:nvSpPr>
          <p:cNvPr id="28" name="Text 25"/>
          <p:cNvSpPr/>
          <p:nvPr/>
        </p:nvSpPr>
        <p:spPr>
          <a:xfrm>
            <a:off x="3292822" y="4707731"/>
            <a:ext cx="260937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00"/>
              </a:spcBef>
              <a:spcAft>
                <a:spcPts val="600"/>
              </a:spcAft>
              <a:buNone/>
            </a:pPr>
            <a:r>
              <a:rPr lang="en-US" sz="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Powered by: </a:t>
            </a:r>
            <a:r>
              <a:rPr lang="en-US" sz="6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A2UI</a:t>
            </a:r>
            <a:r>
              <a:rPr lang="en-US" sz="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(Google) + </a:t>
            </a:r>
            <a:r>
              <a:rPr lang="en-US" sz="6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AG-UI</a:t>
            </a:r>
            <a:r>
              <a:rPr lang="en-US" sz="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(Event Protocol) + </a:t>
            </a:r>
            <a:r>
              <a:rPr lang="en-US" sz="6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</a:t>
            </a:r>
            <a:r>
              <a:rPr lang="en-US" sz="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(Data Access)</a:t>
            </a:r>
            <a:endParaRPr lang="en-US" sz="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304800"/>
            <a:ext cx="8280499" cy="393502"/>
          </a:xfrm>
          <a:prstGeom prst="roundRect">
            <a:avLst>
              <a:gd name="adj" fmla="val 45184"/>
            </a:avLst>
          </a:prstGeom>
          <a:solidFill>
            <a:srgbClr val="6366F1">
              <a:alpha val="15000"/>
            </a:srgbClr>
          </a:solidFill>
          <a:ln w="9525">
            <a:solidFill>
              <a:srgbClr val="6366F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68226" y="453926"/>
            <a:ext cx="816769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3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31750" y="989409"/>
            <a:ext cx="844610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494"/>
              </a:spcBef>
              <a:spcAft>
                <a:spcPts val="1494"/>
              </a:spcAft>
              <a:buNone/>
            </a:pPr>
            <a:r>
              <a:rPr lang="en-US" sz="1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Intelligent Backend Layer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31750" y="1496467"/>
            <a:ext cx="844610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00"/>
              </a:spcBef>
              <a:spcAft>
                <a:spcPts val="1000"/>
              </a:spcAft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APIs to agent teams — processing business logic through traditional and AI-powered orchestration.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31750" y="1737717"/>
            <a:ext cx="1993999" cy="760958"/>
          </a:xfrm>
          <a:prstGeom prst="roundRect">
            <a:avLst>
              <a:gd name="adj" fmla="val 13352"/>
            </a:avLst>
          </a:prstGeom>
          <a:solidFill>
            <a:srgbClr val="1A22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31750" y="1742480"/>
            <a:ext cx="1993999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8" name="Shape 6"/>
          <p:cNvSpPr/>
          <p:nvPr/>
        </p:nvSpPr>
        <p:spPr>
          <a:xfrm>
            <a:off x="2420987" y="1737717"/>
            <a:ext cx="0" cy="760958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9" name="Shape 7"/>
          <p:cNvSpPr/>
          <p:nvPr/>
        </p:nvSpPr>
        <p:spPr>
          <a:xfrm>
            <a:off x="431750" y="2493913"/>
            <a:ext cx="1993999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0" name="Shape 8"/>
          <p:cNvSpPr/>
          <p:nvPr/>
        </p:nvSpPr>
        <p:spPr>
          <a:xfrm>
            <a:off x="450800" y="1737717"/>
            <a:ext cx="0" cy="760958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1" name="Text 9"/>
          <p:cNvSpPr/>
          <p:nvPr/>
        </p:nvSpPr>
        <p:spPr>
          <a:xfrm>
            <a:off x="596801" y="1975693"/>
            <a:ext cx="172632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800"/>
              </a:spcBef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Headless API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96801" y="2172444"/>
            <a:ext cx="1726323" cy="107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5"/>
              </a:lnSpc>
              <a:spcBef>
                <a:spcPts val="650"/>
              </a:spcBef>
              <a:spcAft>
                <a:spcPts val="650"/>
              </a:spcAft>
              <a:buNone/>
            </a:pPr>
            <a:r>
              <a:rPr lang="en-US" sz="6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REST/GraphQL stateless CRUD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2527250" y="1737717"/>
            <a:ext cx="1993999" cy="760958"/>
          </a:xfrm>
          <a:prstGeom prst="roundRect">
            <a:avLst>
              <a:gd name="adj" fmla="val 13352"/>
            </a:avLst>
          </a:prstGeom>
          <a:solidFill>
            <a:srgbClr val="1A22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2527250" y="1742480"/>
            <a:ext cx="1993999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5" name="Shape 13"/>
          <p:cNvSpPr/>
          <p:nvPr/>
        </p:nvSpPr>
        <p:spPr>
          <a:xfrm>
            <a:off x="4516487" y="1737717"/>
            <a:ext cx="0" cy="760958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6" name="Shape 14"/>
          <p:cNvSpPr/>
          <p:nvPr/>
        </p:nvSpPr>
        <p:spPr>
          <a:xfrm>
            <a:off x="2527250" y="2493913"/>
            <a:ext cx="1993999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7" name="Shape 15"/>
          <p:cNvSpPr/>
          <p:nvPr/>
        </p:nvSpPr>
        <p:spPr>
          <a:xfrm>
            <a:off x="2546300" y="1737717"/>
            <a:ext cx="0" cy="760958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8" name="Text 16"/>
          <p:cNvSpPr/>
          <p:nvPr/>
        </p:nvSpPr>
        <p:spPr>
          <a:xfrm>
            <a:off x="2692301" y="1975693"/>
            <a:ext cx="172632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800"/>
              </a:spcBef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Engine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692301" y="2172444"/>
            <a:ext cx="1726323" cy="107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5"/>
              </a:lnSpc>
              <a:spcBef>
                <a:spcPts val="650"/>
              </a:spcBef>
              <a:spcAft>
                <a:spcPts val="650"/>
              </a:spcAft>
              <a:buNone/>
            </a:pPr>
            <a:r>
              <a:rPr lang="en-US" sz="6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workflow designer, zero-code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4622750" y="1737717"/>
            <a:ext cx="1993999" cy="760958"/>
          </a:xfrm>
          <a:prstGeom prst="roundRect">
            <a:avLst>
              <a:gd name="adj" fmla="val 13352"/>
            </a:avLst>
          </a:prstGeom>
          <a:solidFill>
            <a:srgbClr val="1A22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4622750" y="1742480"/>
            <a:ext cx="1993999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2" name="Shape 20"/>
          <p:cNvSpPr/>
          <p:nvPr/>
        </p:nvSpPr>
        <p:spPr>
          <a:xfrm>
            <a:off x="6611987" y="1737717"/>
            <a:ext cx="0" cy="760958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3" name="Shape 21"/>
          <p:cNvSpPr/>
          <p:nvPr/>
        </p:nvSpPr>
        <p:spPr>
          <a:xfrm>
            <a:off x="4622750" y="2493913"/>
            <a:ext cx="1993999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4" name="Shape 22"/>
          <p:cNvSpPr/>
          <p:nvPr/>
        </p:nvSpPr>
        <p:spPr>
          <a:xfrm>
            <a:off x="4641800" y="1737717"/>
            <a:ext cx="0" cy="760958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5" name="Text 23"/>
          <p:cNvSpPr/>
          <p:nvPr/>
        </p:nvSpPr>
        <p:spPr>
          <a:xfrm>
            <a:off x="4787801" y="1975693"/>
            <a:ext cx="172632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800"/>
              </a:spcBef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Orchestration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787801" y="2172444"/>
            <a:ext cx="1726323" cy="107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5"/>
              </a:lnSpc>
              <a:spcBef>
                <a:spcPts val="650"/>
              </a:spcBef>
              <a:spcAft>
                <a:spcPts val="650"/>
              </a:spcAft>
              <a:buNone/>
            </a:pPr>
            <a:r>
              <a:rPr lang="en-US" sz="6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Multi-agent teams: Recruit, Comply, Payroll</a:t>
            </a:r>
            <a:endParaRPr lang="en-US" sz="650" dirty="0"/>
          </a:p>
        </p:txBody>
      </p:sp>
      <p:sp>
        <p:nvSpPr>
          <p:cNvPr id="27" name="Text 25"/>
          <p:cNvSpPr/>
          <p:nvPr/>
        </p:nvSpPr>
        <p:spPr>
          <a:xfrm>
            <a:off x="6718250" y="1737717"/>
            <a:ext cx="1993999" cy="760958"/>
          </a:xfrm>
          <a:prstGeom prst="roundRect">
            <a:avLst>
              <a:gd name="adj" fmla="val 13352"/>
            </a:avLst>
          </a:prstGeom>
          <a:solidFill>
            <a:srgbClr val="1A22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6718250" y="1742480"/>
            <a:ext cx="1993999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9" name="Shape 27"/>
          <p:cNvSpPr/>
          <p:nvPr/>
        </p:nvSpPr>
        <p:spPr>
          <a:xfrm>
            <a:off x="8707487" y="1737717"/>
            <a:ext cx="0" cy="760958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0" name="Shape 28"/>
          <p:cNvSpPr/>
          <p:nvPr/>
        </p:nvSpPr>
        <p:spPr>
          <a:xfrm>
            <a:off x="6718250" y="2493913"/>
            <a:ext cx="1993999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1" name="Shape 29"/>
          <p:cNvSpPr/>
          <p:nvPr/>
        </p:nvSpPr>
        <p:spPr>
          <a:xfrm>
            <a:off x="6737300" y="1737717"/>
            <a:ext cx="0" cy="760958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2" name="Text 30"/>
          <p:cNvSpPr/>
          <p:nvPr/>
        </p:nvSpPr>
        <p:spPr>
          <a:xfrm>
            <a:off x="6883301" y="1975693"/>
            <a:ext cx="172632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800"/>
              </a:spcBef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&amp; Governance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883301" y="2172444"/>
            <a:ext cx="1726323" cy="107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5"/>
              </a:lnSpc>
              <a:spcBef>
                <a:spcPts val="650"/>
              </a:spcBef>
              <a:spcAft>
                <a:spcPts val="650"/>
              </a:spcAft>
              <a:buNone/>
            </a:pPr>
            <a:r>
              <a:rPr lang="en-US" sz="6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RBAC, audit, kill switches, HITL</a:t>
            </a:r>
            <a:endParaRPr lang="en-US" sz="650" dirty="0"/>
          </a:p>
        </p:txBody>
      </p:sp>
      <p:sp>
        <p:nvSpPr>
          <p:cNvPr id="34" name="Text 32"/>
          <p:cNvSpPr/>
          <p:nvPr/>
        </p:nvSpPr>
        <p:spPr>
          <a:xfrm>
            <a:off x="431750" y="2625626"/>
            <a:ext cx="8280499" cy="545902"/>
          </a:xfrm>
          <a:prstGeom prst="roundRect">
            <a:avLst>
              <a:gd name="adj" fmla="val 18611"/>
            </a:avLst>
          </a:prstGeom>
          <a:solidFill>
            <a:srgbClr val="F59E0B">
              <a:alpha val="6000"/>
            </a:srgbClr>
          </a:solidFill>
          <a:ln w="9525">
            <a:solidFill>
              <a:srgbClr val="F59E0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488150" y="2850952"/>
            <a:ext cx="816769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Engine Impact:</a:t>
            </a: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Customer requests "3-level approval for leave &gt; 5 days" — Traditional: 2-week release. </a:t>
            </a: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xTalent: Configure and deploy instantly.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304800"/>
            <a:ext cx="8280499" cy="393502"/>
          </a:xfrm>
          <a:prstGeom prst="roundRect">
            <a:avLst>
              <a:gd name="adj" fmla="val 45184"/>
            </a:avLst>
          </a:prstGeom>
          <a:solidFill>
            <a:srgbClr val="6366F1">
              <a:alpha val="15000"/>
            </a:srgbClr>
          </a:solidFill>
          <a:ln w="9525">
            <a:solidFill>
              <a:srgbClr val="6366F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68226" y="453926"/>
            <a:ext cx="816769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4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31750" y="989409"/>
            <a:ext cx="844610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494"/>
              </a:spcBef>
              <a:spcAft>
                <a:spcPts val="1494"/>
              </a:spcAft>
              <a:buNone/>
            </a:pPr>
            <a:r>
              <a:rPr lang="en-US" sz="1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Multi-Modal Data Layer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31750" y="1496467"/>
            <a:ext cx="844610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00"/>
              </a:spcBef>
              <a:spcAft>
                <a:spcPts val="1000"/>
              </a:spcAft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right storage paradigm for every type of data — from strict transactional records to AI-native stores.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31750" y="1737717"/>
            <a:ext cx="1574899" cy="852488"/>
          </a:xfrm>
          <a:prstGeom prst="roundRect">
            <a:avLst>
              <a:gd name="adj" fmla="val 11918"/>
            </a:avLst>
          </a:prstGeom>
          <a:solidFill>
            <a:srgbClr val="1A22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31750" y="1742480"/>
            <a:ext cx="1574899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8" name="Shape 6"/>
          <p:cNvSpPr/>
          <p:nvPr/>
        </p:nvSpPr>
        <p:spPr>
          <a:xfrm>
            <a:off x="2001887" y="1737717"/>
            <a:ext cx="0" cy="852487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9" name="Shape 7"/>
          <p:cNvSpPr/>
          <p:nvPr/>
        </p:nvSpPr>
        <p:spPr>
          <a:xfrm>
            <a:off x="431750" y="2585442"/>
            <a:ext cx="1574899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0" name="Shape 8"/>
          <p:cNvSpPr/>
          <p:nvPr/>
        </p:nvSpPr>
        <p:spPr>
          <a:xfrm>
            <a:off x="450800" y="1737717"/>
            <a:ext cx="0" cy="852487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1" name="Text 9"/>
          <p:cNvSpPr/>
          <p:nvPr/>
        </p:nvSpPr>
        <p:spPr>
          <a:xfrm>
            <a:off x="596801" y="1969443"/>
            <a:ext cx="129884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750"/>
              </a:spcBef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RDBMS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596801" y="2156668"/>
            <a:ext cx="1298841" cy="214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5"/>
              </a:lnSpc>
              <a:spcBef>
                <a:spcPts val="650"/>
              </a:spcBef>
              <a:spcAft>
                <a:spcPts val="650"/>
              </a:spcAft>
              <a:buNone/>
            </a:pPr>
            <a:r>
              <a:rPr lang="en-US" sz="6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— ACID, strict schema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2108150" y="1737717"/>
            <a:ext cx="1574899" cy="852488"/>
          </a:xfrm>
          <a:prstGeom prst="roundRect">
            <a:avLst>
              <a:gd name="adj" fmla="val 11918"/>
            </a:avLst>
          </a:prstGeom>
          <a:solidFill>
            <a:srgbClr val="1A22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2108150" y="1742480"/>
            <a:ext cx="1574899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5" name="Shape 13"/>
          <p:cNvSpPr/>
          <p:nvPr/>
        </p:nvSpPr>
        <p:spPr>
          <a:xfrm>
            <a:off x="3678287" y="1737717"/>
            <a:ext cx="0" cy="852487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6" name="Shape 14"/>
          <p:cNvSpPr/>
          <p:nvPr/>
        </p:nvSpPr>
        <p:spPr>
          <a:xfrm>
            <a:off x="2108150" y="2585442"/>
            <a:ext cx="1574899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7" name="Shape 15"/>
          <p:cNvSpPr/>
          <p:nvPr/>
        </p:nvSpPr>
        <p:spPr>
          <a:xfrm>
            <a:off x="2127200" y="1737717"/>
            <a:ext cx="0" cy="852487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8" name="Text 16"/>
          <p:cNvSpPr/>
          <p:nvPr/>
        </p:nvSpPr>
        <p:spPr>
          <a:xfrm>
            <a:off x="2273201" y="1969443"/>
            <a:ext cx="129884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750"/>
              </a:spcBef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 Store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2273201" y="2156668"/>
            <a:ext cx="1298841" cy="214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5"/>
              </a:lnSpc>
              <a:spcBef>
                <a:spcPts val="650"/>
              </a:spcBef>
              <a:spcAft>
                <a:spcPts val="650"/>
              </a:spcAft>
              <a:buNone/>
            </a:pPr>
            <a:r>
              <a:rPr lang="en-US" sz="6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SurrealDB — schemaless custom fields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3784550" y="1737717"/>
            <a:ext cx="1574899" cy="852488"/>
          </a:xfrm>
          <a:prstGeom prst="roundRect">
            <a:avLst>
              <a:gd name="adj" fmla="val 11918"/>
            </a:avLst>
          </a:prstGeom>
          <a:solidFill>
            <a:srgbClr val="1A22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3784550" y="1742480"/>
            <a:ext cx="1574899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2" name="Shape 20"/>
          <p:cNvSpPr/>
          <p:nvPr/>
        </p:nvSpPr>
        <p:spPr>
          <a:xfrm>
            <a:off x="5354687" y="1737717"/>
            <a:ext cx="0" cy="852487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3" name="Shape 21"/>
          <p:cNvSpPr/>
          <p:nvPr/>
        </p:nvSpPr>
        <p:spPr>
          <a:xfrm>
            <a:off x="3784550" y="2585442"/>
            <a:ext cx="1574899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4" name="Shape 22"/>
          <p:cNvSpPr/>
          <p:nvPr/>
        </p:nvSpPr>
        <p:spPr>
          <a:xfrm>
            <a:off x="3803600" y="1737717"/>
            <a:ext cx="0" cy="852487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5" name="Text 23"/>
          <p:cNvSpPr/>
          <p:nvPr/>
        </p:nvSpPr>
        <p:spPr>
          <a:xfrm>
            <a:off x="3949601" y="1969443"/>
            <a:ext cx="129884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750"/>
              </a:spcBef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 Store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949601" y="2156668"/>
            <a:ext cx="1298841" cy="107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5"/>
              </a:lnSpc>
              <a:spcBef>
                <a:spcPts val="650"/>
              </a:spcBef>
              <a:spcAft>
                <a:spcPts val="650"/>
              </a:spcAft>
              <a:buNone/>
            </a:pPr>
            <a:r>
              <a:rPr lang="en-US" sz="6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Neo4j — org charts, skill maps</a:t>
            </a:r>
            <a:endParaRPr lang="en-US" sz="650" dirty="0"/>
          </a:p>
        </p:txBody>
      </p:sp>
      <p:sp>
        <p:nvSpPr>
          <p:cNvPr id="27" name="Text 25"/>
          <p:cNvSpPr/>
          <p:nvPr/>
        </p:nvSpPr>
        <p:spPr>
          <a:xfrm>
            <a:off x="5460950" y="1737717"/>
            <a:ext cx="1574899" cy="852488"/>
          </a:xfrm>
          <a:prstGeom prst="roundRect">
            <a:avLst>
              <a:gd name="adj" fmla="val 11918"/>
            </a:avLst>
          </a:prstGeom>
          <a:solidFill>
            <a:srgbClr val="1A22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5460950" y="1742480"/>
            <a:ext cx="1574899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9" name="Shape 27"/>
          <p:cNvSpPr/>
          <p:nvPr/>
        </p:nvSpPr>
        <p:spPr>
          <a:xfrm>
            <a:off x="7031087" y="1737717"/>
            <a:ext cx="0" cy="852487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0" name="Shape 28"/>
          <p:cNvSpPr/>
          <p:nvPr/>
        </p:nvSpPr>
        <p:spPr>
          <a:xfrm>
            <a:off x="5460950" y="2585442"/>
            <a:ext cx="1574899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1" name="Shape 29"/>
          <p:cNvSpPr/>
          <p:nvPr/>
        </p:nvSpPr>
        <p:spPr>
          <a:xfrm>
            <a:off x="5480000" y="1737717"/>
            <a:ext cx="0" cy="852487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2" name="Text 30"/>
          <p:cNvSpPr/>
          <p:nvPr/>
        </p:nvSpPr>
        <p:spPr>
          <a:xfrm>
            <a:off x="5626001" y="1969443"/>
            <a:ext cx="129884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750"/>
              </a:spcBef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Metadata &amp; Audit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5626001" y="2156668"/>
            <a:ext cx="1298841" cy="107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5"/>
              </a:lnSpc>
              <a:spcBef>
                <a:spcPts val="650"/>
              </a:spcBef>
              <a:spcAft>
                <a:spcPts val="650"/>
              </a:spcAft>
              <a:buNone/>
            </a:pPr>
            <a:r>
              <a:rPr lang="en-US" sz="6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Catalog + lineage — AI traceability</a:t>
            </a:r>
            <a:endParaRPr lang="en-US" sz="650" dirty="0"/>
          </a:p>
        </p:txBody>
      </p:sp>
      <p:sp>
        <p:nvSpPr>
          <p:cNvPr id="34" name="Text 32"/>
          <p:cNvSpPr/>
          <p:nvPr/>
        </p:nvSpPr>
        <p:spPr>
          <a:xfrm>
            <a:off x="7137350" y="1737717"/>
            <a:ext cx="1574899" cy="852488"/>
          </a:xfrm>
          <a:prstGeom prst="roundRect">
            <a:avLst>
              <a:gd name="adj" fmla="val 11918"/>
            </a:avLst>
          </a:prstGeom>
          <a:solidFill>
            <a:srgbClr val="1A22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Shape 33"/>
          <p:cNvSpPr/>
          <p:nvPr/>
        </p:nvSpPr>
        <p:spPr>
          <a:xfrm>
            <a:off x="7137350" y="1742480"/>
            <a:ext cx="1574899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6" name="Shape 34"/>
          <p:cNvSpPr/>
          <p:nvPr/>
        </p:nvSpPr>
        <p:spPr>
          <a:xfrm>
            <a:off x="8707487" y="1737717"/>
            <a:ext cx="0" cy="852487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7" name="Shape 35"/>
          <p:cNvSpPr/>
          <p:nvPr/>
        </p:nvSpPr>
        <p:spPr>
          <a:xfrm>
            <a:off x="7137350" y="2585442"/>
            <a:ext cx="1574899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8" name="Shape 36"/>
          <p:cNvSpPr/>
          <p:nvPr/>
        </p:nvSpPr>
        <p:spPr>
          <a:xfrm>
            <a:off x="7156400" y="1737717"/>
            <a:ext cx="0" cy="852487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9" name="Text 37"/>
          <p:cNvSpPr/>
          <p:nvPr/>
        </p:nvSpPr>
        <p:spPr>
          <a:xfrm>
            <a:off x="7302401" y="1969443"/>
            <a:ext cx="129884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750"/>
              </a:spcBef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AI-Native Store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7302401" y="2156668"/>
            <a:ext cx="1298841" cy="107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5"/>
              </a:lnSpc>
              <a:spcBef>
                <a:spcPts val="650"/>
              </a:spcBef>
              <a:spcAft>
                <a:spcPts val="650"/>
              </a:spcAft>
              <a:buNone/>
            </a:pPr>
            <a:r>
              <a:rPr lang="en-US" sz="6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DB — embeddings, RAG</a:t>
            </a:r>
            <a:endParaRPr lang="en-US" sz="650" dirty="0"/>
          </a:p>
        </p:txBody>
      </p:sp>
      <p:sp>
        <p:nvSpPr>
          <p:cNvPr id="41" name="Text 39"/>
          <p:cNvSpPr/>
          <p:nvPr/>
        </p:nvSpPr>
        <p:spPr>
          <a:xfrm>
            <a:off x="431750" y="2717155"/>
            <a:ext cx="844610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Metadata and Audit is mandatory for HR compliance — labor law, data privacy, GDPR/PDPA, AI transparency.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56162" y="304800"/>
            <a:ext cx="1031528" cy="393502"/>
          </a:xfrm>
          <a:prstGeom prst="roundRect">
            <a:avLst>
              <a:gd name="adj" fmla="val 45184"/>
            </a:avLst>
          </a:prstGeom>
          <a:solidFill>
            <a:srgbClr val="6366F1">
              <a:alpha val="15000"/>
            </a:srgbClr>
          </a:solidFill>
          <a:ln w="9525">
            <a:solidFill>
              <a:srgbClr val="6366F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192637" y="453926"/>
            <a:ext cx="77374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2311003" y="989409"/>
            <a:ext cx="461243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494"/>
              </a:spcBef>
              <a:spcAft>
                <a:spcPts val="1494"/>
              </a:spcAft>
              <a:buNone/>
            </a:pPr>
            <a:r>
              <a:rPr lang="en-US" sz="1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HCM is Fundamentally Broken</a:t>
            </a:r>
            <a:endParaRPr lang="en-US" sz="1800" dirty="0"/>
          </a:p>
        </p:txBody>
      </p:sp>
      <p:pic>
        <p:nvPicPr>
          <p:cNvPr id="5" name="Image 0" descr="/Users/nguyenhuyvu/Library/CloudStorage/OneDrive-VNGCorporation/Apps/mygit/a4b-doc-xtalent/product/xTalent/docs/_research/SEP/workspace/slides/divid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4550" y="1579066"/>
            <a:ext cx="634901" cy="38100"/>
          </a:xfrm>
          <a:prstGeom prst="rect">
            <a:avLst/>
          </a:prstGeom>
        </p:spPr>
      </p:pic>
      <p:pic>
        <p:nvPicPr>
          <p:cNvPr id="6" name="Image 1" descr="/Users/nguyenhuyvu/Library/CloudStorage/OneDrive-VNGCorporation/Apps/mygit/a4b-doc-xtalent/product/xTalent/docs/_research/SEP/assets/comparis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000" y="1731466"/>
            <a:ext cx="3048000" cy="304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67634" y="304800"/>
            <a:ext cx="808583" cy="393502"/>
          </a:xfrm>
          <a:prstGeom prst="roundRect">
            <a:avLst>
              <a:gd name="adj" fmla="val 45184"/>
            </a:avLst>
          </a:prstGeom>
          <a:solidFill>
            <a:srgbClr val="6366F1">
              <a:alpha val="15000"/>
            </a:srgbClr>
          </a:solidFill>
          <a:ln w="9525">
            <a:solidFill>
              <a:srgbClr val="6366F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04109" y="453926"/>
            <a:ext cx="54634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2596753" y="989409"/>
            <a:ext cx="402935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494"/>
              </a:spcBef>
              <a:spcAft>
                <a:spcPts val="1494"/>
              </a:spcAft>
              <a:buNone/>
            </a:pPr>
            <a:r>
              <a:rPr lang="en-US" sz="1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Self-Evolving Employee Onboarding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877741" y="1483816"/>
            <a:ext cx="345613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spcAft>
                <a:spcPts val="400"/>
              </a:spcAft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AI-powered steps orchestrated across all 4 layers of the Self-Evolving Platform</a:t>
            </a:r>
            <a:endParaRPr lang="en-US" sz="750" dirty="0"/>
          </a:p>
        </p:txBody>
      </p:sp>
      <p:pic>
        <p:nvPicPr>
          <p:cNvPr id="6" name="Image 0" descr="/Users/nguyenhuyvu/Library/CloudStorage/OneDrive-VNGCorporation/Apps/mygit/a4b-doc-xtalent/product/xTalent/docs/_research/SEP/assets/onboarding_fl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1639342"/>
            <a:ext cx="3048000" cy="304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61954" y="279350"/>
            <a:ext cx="1220093" cy="393502"/>
          </a:xfrm>
          <a:prstGeom prst="roundRect">
            <a:avLst>
              <a:gd name="adj" fmla="val 45184"/>
            </a:avLst>
          </a:prstGeom>
          <a:solidFill>
            <a:srgbClr val="6366F1">
              <a:alpha val="15000"/>
            </a:srgbClr>
          </a:solidFill>
          <a:ln w="9525">
            <a:solidFill>
              <a:srgbClr val="6366F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98429" y="428476"/>
            <a:ext cx="96608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USE CASES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231803" y="963960"/>
            <a:ext cx="273385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494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AI-Driven HR Operations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31750" y="1332161"/>
            <a:ext cx="4076700" cy="1293316"/>
          </a:xfrm>
          <a:prstGeom prst="roundRect">
            <a:avLst>
              <a:gd name="adj" fmla="val 9820"/>
            </a:avLst>
          </a:prstGeom>
          <a:solidFill>
            <a:srgbClr val="1A22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31750" y="1336923"/>
            <a:ext cx="4076700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7" name="Shape 5"/>
          <p:cNvSpPr/>
          <p:nvPr/>
        </p:nvSpPr>
        <p:spPr>
          <a:xfrm>
            <a:off x="4503688" y="1332161"/>
            <a:ext cx="0" cy="1293316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8" name="Shape 6"/>
          <p:cNvSpPr/>
          <p:nvPr/>
        </p:nvSpPr>
        <p:spPr>
          <a:xfrm>
            <a:off x="431750" y="2620714"/>
            <a:ext cx="4076700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9" name="Shape 7"/>
          <p:cNvSpPr/>
          <p:nvPr/>
        </p:nvSpPr>
        <p:spPr>
          <a:xfrm>
            <a:off x="450800" y="1332161"/>
            <a:ext cx="0" cy="1293316"/>
          </a:xfrm>
          <a:prstGeom prst="line">
            <a:avLst/>
          </a:prstGeom>
          <a:noFill/>
          <a:ln w="381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0" name="Text 8"/>
          <p:cNvSpPr/>
          <p:nvPr/>
        </p:nvSpPr>
        <p:spPr>
          <a:xfrm>
            <a:off x="622250" y="1608386"/>
            <a:ext cx="379876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900"/>
              </a:spcBef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Performance Review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22250" y="1830586"/>
            <a:ext cx="3798761" cy="3728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spcBef>
                <a:spcPts val="700"/>
              </a:spcBef>
              <a:spcAft>
                <a:spcPts val="400"/>
              </a:spcAft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data collection from attendance, projects, peer feedback. Performance Agent synthesizes insights. Manager sees Generative UI dashboard. Business Rules ensure fairness.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622250" y="2285851"/>
            <a:ext cx="379876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650"/>
              </a:spcBef>
              <a:spcAft>
                <a:spcPts val="650"/>
              </a:spcAft>
              <a:buNone/>
            </a:pPr>
            <a:r>
              <a:rPr lang="en-US" sz="65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annual subjective reviews to continuous data-driven assessment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4635401" y="1332161"/>
            <a:ext cx="4076849" cy="1293316"/>
          </a:xfrm>
          <a:prstGeom prst="roundRect">
            <a:avLst>
              <a:gd name="adj" fmla="val 9820"/>
            </a:avLst>
          </a:prstGeom>
          <a:solidFill>
            <a:srgbClr val="1A22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635401" y="1336923"/>
            <a:ext cx="4076849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5" name="Shape 13"/>
          <p:cNvSpPr/>
          <p:nvPr/>
        </p:nvSpPr>
        <p:spPr>
          <a:xfrm>
            <a:off x="8707487" y="1332161"/>
            <a:ext cx="0" cy="1293316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6" name="Shape 14"/>
          <p:cNvSpPr/>
          <p:nvPr/>
        </p:nvSpPr>
        <p:spPr>
          <a:xfrm>
            <a:off x="4635401" y="2620714"/>
            <a:ext cx="4076849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7" name="Shape 15"/>
          <p:cNvSpPr/>
          <p:nvPr/>
        </p:nvSpPr>
        <p:spPr>
          <a:xfrm>
            <a:off x="4654451" y="1332161"/>
            <a:ext cx="0" cy="1293316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8" name="Text 16"/>
          <p:cNvSpPr/>
          <p:nvPr/>
        </p:nvSpPr>
        <p:spPr>
          <a:xfrm>
            <a:off x="4825901" y="1608386"/>
            <a:ext cx="379891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900"/>
              </a:spcBef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 Payroll Compliance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25901" y="1830586"/>
            <a:ext cx="3798912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spcBef>
                <a:spcPts val="700"/>
              </a:spcBef>
              <a:spcAft>
                <a:spcPts val="400"/>
              </a:spcAft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 rules encoded in Ontology. Regulation changes update ontology only. Payroll Agent runs and verifies in parallel. Full audit trail in Metadata layer.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4825901" y="2161580"/>
            <a:ext cx="379891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650"/>
              </a:spcBef>
              <a:spcAft>
                <a:spcPts val="650"/>
              </a:spcAft>
              <a:buNone/>
            </a:pPr>
            <a:r>
              <a:rPr lang="en-US" sz="65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code changes when regulations update — ontology-only updates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280988" y="2726978"/>
            <a:ext cx="8582025" cy="793552"/>
          </a:xfrm>
          <a:prstGeom prst="roundRect">
            <a:avLst>
              <a:gd name="adj" fmla="val 16004"/>
            </a:avLst>
          </a:prstGeom>
          <a:solidFill>
            <a:srgbClr val="1A22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280988" y="2731740"/>
            <a:ext cx="8582025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3" name="Shape 21"/>
          <p:cNvSpPr/>
          <p:nvPr/>
        </p:nvSpPr>
        <p:spPr>
          <a:xfrm>
            <a:off x="8858250" y="2726978"/>
            <a:ext cx="0" cy="793552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4" name="Shape 22"/>
          <p:cNvSpPr/>
          <p:nvPr/>
        </p:nvSpPr>
        <p:spPr>
          <a:xfrm>
            <a:off x="280988" y="3515767"/>
            <a:ext cx="8582025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5" name="Shape 23"/>
          <p:cNvSpPr/>
          <p:nvPr/>
        </p:nvSpPr>
        <p:spPr>
          <a:xfrm>
            <a:off x="300038" y="2726978"/>
            <a:ext cx="0" cy="793552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6" name="Text 24"/>
          <p:cNvSpPr/>
          <p:nvPr/>
        </p:nvSpPr>
        <p:spPr>
          <a:xfrm>
            <a:off x="363233" y="2977753"/>
            <a:ext cx="844610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9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Intent-Based HR Analytics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63233" y="3199954"/>
            <a:ext cx="844610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Employee:</a:t>
            </a: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"How many vacation days do I have?" </a:t>
            </a: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Manager:</a:t>
            </a: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"Show attrition risk" </a:t>
            </a: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CHRO:</a:t>
            </a: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"Headcount cost by region YoY"</a:t>
            </a:r>
            <a:endParaRPr lang="en-US" sz="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70313" y="304800"/>
            <a:ext cx="803225" cy="393502"/>
          </a:xfrm>
          <a:prstGeom prst="roundRect">
            <a:avLst>
              <a:gd name="adj" fmla="val 45184"/>
            </a:avLst>
          </a:prstGeom>
          <a:solidFill>
            <a:srgbClr val="6366F1">
              <a:alpha val="15000"/>
            </a:srgbClr>
          </a:solidFill>
          <a:ln w="9525">
            <a:solidFill>
              <a:srgbClr val="6366F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06788" y="453926"/>
            <a:ext cx="54088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2977455" y="1010543"/>
            <a:ext cx="325287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660"/>
              </a:spcBef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Phases to Evolution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31750" y="1432768"/>
            <a:ext cx="2675483" cy="2401342"/>
          </a:xfrm>
          <a:prstGeom prst="roundRect">
            <a:avLst>
              <a:gd name="adj" fmla="val 5289"/>
            </a:avLst>
          </a:prstGeom>
          <a:solidFill>
            <a:srgbClr val="6366F1">
              <a:alpha val="18000"/>
            </a:srgbClr>
          </a:solidFill>
          <a:ln w="9525">
            <a:solidFill>
              <a:srgbClr val="6366F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93675" y="1721644"/>
            <a:ext cx="239866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0"/>
              </a:spcBef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1: Foundation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3675" y="1946970"/>
            <a:ext cx="239866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650"/>
              </a:spcBef>
              <a:spcAft>
                <a:spcPts val="600"/>
              </a:spcAft>
              <a:buNone/>
            </a:pPr>
            <a:r>
              <a:rPr lang="en-US" sz="6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Months 1-6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593675" y="2118420"/>
            <a:ext cx="2351633" cy="1553766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0" indent="0" algn="l">
              <a:buNone/>
            </a:pP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746075" y="2226171"/>
            <a:ext cx="224321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650"/>
              </a:spcBef>
              <a:spcAft>
                <a:spcPts val="650"/>
              </a:spcAft>
              <a:buNone/>
            </a:pPr>
            <a:r>
              <a:rPr lang="en-US" sz="6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HR Domain Ontology (LinkML)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746075" y="2536924"/>
            <a:ext cx="224321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650"/>
              </a:spcBef>
              <a:spcAft>
                <a:spcPts val="650"/>
              </a:spcAft>
              <a:buNone/>
            </a:pPr>
            <a:r>
              <a:rPr lang="en-US" sz="6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Graph — org structure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746075" y="2847677"/>
            <a:ext cx="224321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650"/>
              </a:spcBef>
              <a:spcAft>
                <a:spcPts val="650"/>
              </a:spcAft>
              <a:buNone/>
            </a:pPr>
            <a:r>
              <a:rPr lang="en-US" sz="6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Headless REST/GraphQL APIs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746075" y="3158430"/>
            <a:ext cx="224321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650"/>
              </a:spcBef>
              <a:spcAft>
                <a:spcPts val="650"/>
              </a:spcAft>
              <a:buNone/>
            </a:pPr>
            <a:r>
              <a:rPr lang="en-US" sz="6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UI — design system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746075" y="3469184"/>
            <a:ext cx="224321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650"/>
              </a:spcBef>
              <a:spcAft>
                <a:spcPts val="650"/>
              </a:spcAft>
              <a:buNone/>
            </a:pPr>
            <a:r>
              <a:rPr lang="en-US" sz="6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RDBMS + Flex Store + Metadata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234184" y="1432768"/>
            <a:ext cx="2675632" cy="2401342"/>
          </a:xfrm>
          <a:prstGeom prst="roundRect">
            <a:avLst>
              <a:gd name="adj" fmla="val 5289"/>
            </a:avLst>
          </a:prstGeom>
          <a:solidFill>
            <a:srgbClr val="06B6D4">
              <a:alpha val="18000"/>
            </a:srgbClr>
          </a:solidFill>
          <a:ln w="9525">
            <a:solidFill>
              <a:srgbClr val="06B6D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396109" y="1721644"/>
            <a:ext cx="239881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0"/>
              </a:spcBef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2: Intelligence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396109" y="1946970"/>
            <a:ext cx="239881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650"/>
              </a:spcBef>
              <a:spcAft>
                <a:spcPts val="600"/>
              </a:spcAft>
              <a:buNone/>
            </a:pPr>
            <a:r>
              <a:rPr lang="en-US" sz="6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Months 7-12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3396109" y="2118420"/>
            <a:ext cx="2351782" cy="1553766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0" indent="0" algn="l">
              <a:buNone/>
            </a:pP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3548509" y="2226171"/>
            <a:ext cx="224337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650"/>
              </a:spcBef>
              <a:spcAft>
                <a:spcPts val="650"/>
              </a:spcAft>
              <a:buNone/>
            </a:pPr>
            <a:r>
              <a:rPr lang="en-US" sz="6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Engine — visual designer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3548509" y="2536924"/>
            <a:ext cx="224337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650"/>
              </a:spcBef>
              <a:spcAft>
                <a:spcPts val="650"/>
              </a:spcAft>
              <a:buNone/>
            </a:pPr>
            <a:r>
              <a:rPr lang="en-US" sz="6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Team: Onboard, Comply, Payroll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3548509" y="2847677"/>
            <a:ext cx="224337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650"/>
              </a:spcBef>
              <a:spcAft>
                <a:spcPts val="650"/>
              </a:spcAft>
              <a:buNone/>
            </a:pPr>
            <a:r>
              <a:rPr lang="en-US" sz="6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Configurable UI (JSON-driven)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3548509" y="3158430"/>
            <a:ext cx="224337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650"/>
              </a:spcBef>
              <a:spcAft>
                <a:spcPts val="650"/>
              </a:spcAft>
              <a:buNone/>
            </a:pPr>
            <a:r>
              <a:rPr lang="en-US" sz="6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Knowledge Graph + GraphRAG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3548509" y="3469184"/>
            <a:ext cx="224337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650"/>
              </a:spcBef>
              <a:spcAft>
                <a:spcPts val="650"/>
              </a:spcAft>
              <a:buNone/>
            </a:pPr>
            <a:r>
              <a:rPr lang="en-US" sz="6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DB — semantic search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6036766" y="1432768"/>
            <a:ext cx="2675483" cy="2401342"/>
          </a:xfrm>
          <a:prstGeom prst="roundRect">
            <a:avLst>
              <a:gd name="adj" fmla="val 5289"/>
            </a:avLst>
          </a:prstGeom>
          <a:solidFill>
            <a:srgbClr val="10B981">
              <a:alpha val="18000"/>
            </a:srgbClr>
          </a:solidFill>
          <a:ln w="9525">
            <a:solidFill>
              <a:srgbClr val="10B98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198691" y="1721644"/>
            <a:ext cx="239866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0"/>
              </a:spcBef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3: Evolution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198691" y="1946970"/>
            <a:ext cx="239866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650"/>
              </a:spcBef>
              <a:spcAft>
                <a:spcPts val="600"/>
              </a:spcAft>
              <a:buNone/>
            </a:pPr>
            <a:r>
              <a:rPr lang="en-US" sz="6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Months 13-18</a:t>
            </a:r>
            <a:endParaRPr lang="en-US" sz="650" dirty="0"/>
          </a:p>
        </p:txBody>
      </p:sp>
      <p:sp>
        <p:nvSpPr>
          <p:cNvPr id="26" name="Text 24"/>
          <p:cNvSpPr/>
          <p:nvPr/>
        </p:nvSpPr>
        <p:spPr>
          <a:xfrm>
            <a:off x="6198691" y="2118420"/>
            <a:ext cx="2351633" cy="1553766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0" indent="0" algn="l">
              <a:buNone/>
            </a:pPr>
            <a:endParaRPr lang="en-US" sz="650" dirty="0"/>
          </a:p>
        </p:txBody>
      </p:sp>
      <p:sp>
        <p:nvSpPr>
          <p:cNvPr id="27" name="Text 25"/>
          <p:cNvSpPr/>
          <p:nvPr/>
        </p:nvSpPr>
        <p:spPr>
          <a:xfrm>
            <a:off x="6351091" y="2226171"/>
            <a:ext cx="224321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650"/>
              </a:spcBef>
              <a:spcAft>
                <a:spcPts val="650"/>
              </a:spcAft>
              <a:buNone/>
            </a:pPr>
            <a:r>
              <a:rPr lang="en-US" sz="6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Generative UI — A2UI integration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6351091" y="2536924"/>
            <a:ext cx="224321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650"/>
              </a:spcBef>
              <a:spcAft>
                <a:spcPts val="650"/>
              </a:spcAft>
              <a:buNone/>
            </a:pPr>
            <a:r>
              <a:rPr lang="en-US" sz="6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Multi-Agent cross-functional teams</a:t>
            </a:r>
            <a:endParaRPr lang="en-US" sz="650" dirty="0"/>
          </a:p>
        </p:txBody>
      </p:sp>
      <p:sp>
        <p:nvSpPr>
          <p:cNvPr id="29" name="Text 27"/>
          <p:cNvSpPr/>
          <p:nvPr/>
        </p:nvSpPr>
        <p:spPr>
          <a:xfrm>
            <a:off x="6351091" y="2847677"/>
            <a:ext cx="224321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650"/>
              </a:spcBef>
              <a:spcAft>
                <a:spcPts val="650"/>
              </a:spcAft>
              <a:buNone/>
            </a:pPr>
            <a:r>
              <a:rPr lang="en-US" sz="6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MAPE-K self-optimization loops</a:t>
            </a:r>
            <a:endParaRPr lang="en-US" sz="650" dirty="0"/>
          </a:p>
        </p:txBody>
      </p:sp>
      <p:sp>
        <p:nvSpPr>
          <p:cNvPr id="30" name="Text 28"/>
          <p:cNvSpPr/>
          <p:nvPr/>
        </p:nvSpPr>
        <p:spPr>
          <a:xfrm>
            <a:off x="6351091" y="3158430"/>
            <a:ext cx="224321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650"/>
              </a:spcBef>
              <a:spcAft>
                <a:spcPts val="650"/>
              </a:spcAft>
              <a:buNone/>
            </a:pPr>
            <a:r>
              <a:rPr lang="en-US" sz="6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Predictive HR Analytics</a:t>
            </a:r>
            <a:endParaRPr lang="en-US" sz="650" dirty="0"/>
          </a:p>
        </p:txBody>
      </p:sp>
      <p:sp>
        <p:nvSpPr>
          <p:cNvPr id="31" name="Text 29"/>
          <p:cNvSpPr/>
          <p:nvPr/>
        </p:nvSpPr>
        <p:spPr>
          <a:xfrm>
            <a:off x="6351091" y="3469184"/>
            <a:ext cx="224321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650"/>
              </a:spcBef>
              <a:spcAft>
                <a:spcPts val="650"/>
              </a:spcAft>
              <a:buNone/>
            </a:pPr>
            <a:r>
              <a:rPr lang="en-US" sz="6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Auto-evolving rules and workflows</a:t>
            </a:r>
            <a:endParaRPr lang="en-US" sz="6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62735" y="330101"/>
            <a:ext cx="618381" cy="393502"/>
          </a:xfrm>
          <a:prstGeom prst="roundRect">
            <a:avLst>
              <a:gd name="adj" fmla="val 45184"/>
            </a:avLst>
          </a:prstGeom>
          <a:solidFill>
            <a:srgbClr val="6366F1">
              <a:alpha val="15000"/>
            </a:srgbClr>
          </a:solidFill>
          <a:ln w="9525">
            <a:solidFill>
              <a:srgbClr val="6366F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99211" y="479227"/>
            <a:ext cx="35233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333452" y="1014710"/>
            <a:ext cx="252663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494"/>
              </a:spcBef>
              <a:spcAft>
                <a:spcPts val="1494"/>
              </a:spcAft>
              <a:buNone/>
            </a:pPr>
            <a:r>
              <a:rPr lang="en-US" sz="1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 &amp; Strategic Impact</a:t>
            </a:r>
            <a:endParaRPr lang="en-US" sz="1800" dirty="0"/>
          </a:p>
        </p:txBody>
      </p:sp>
      <p:pic>
        <p:nvPicPr>
          <p:cNvPr id="5" name="Image 0" descr="/Users/nguyenhuyvu/Library/CloudStorage/OneDrive-VNGCorporation/Apps/mygit/a4b-doc-xtalent/product/xTalent/docs/_research/SEP/assets/roi_metric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1050" y="1521768"/>
            <a:ext cx="3301901" cy="3301901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61991" y="304800"/>
            <a:ext cx="620018" cy="393502"/>
          </a:xfrm>
          <a:prstGeom prst="roundRect">
            <a:avLst>
              <a:gd name="adj" fmla="val 45184"/>
            </a:avLst>
          </a:prstGeom>
          <a:solidFill>
            <a:srgbClr val="6366F1">
              <a:alpha val="15000"/>
            </a:srgbClr>
          </a:solidFill>
          <a:ln w="9525">
            <a:solidFill>
              <a:srgbClr val="6366F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98466" y="453926"/>
            <a:ext cx="35400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2778621" y="978991"/>
            <a:ext cx="3658493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411"/>
              </a:spcBef>
              <a:spcAft>
                <a:spcPts val="1411"/>
              </a:spcAft>
              <a:buNone/>
            </a:pPr>
            <a:r>
              <a:rPr lang="en-US" sz="1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&amp; Security Framework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438992" y="1440656"/>
            <a:ext cx="426601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spcAft>
                <a:spcPts val="400"/>
              </a:spcAft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AI Agent operates under strict governance — with 5 pillars and 5 layers of defense-in-depth security.</a:t>
            </a:r>
            <a:endParaRPr lang="en-US" sz="700" dirty="0"/>
          </a:p>
        </p:txBody>
      </p:sp>
      <p:pic>
        <p:nvPicPr>
          <p:cNvPr id="6" name="Image 0" descr="/Users/nguyenhuyvu/Library/CloudStorage/OneDrive-VNGCorporation/Apps/mygit/a4b-doc-xtalent/product/xTalent/docs/_research/SEP/assets/governance_framewo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4450" y="1586657"/>
            <a:ext cx="3174950" cy="317495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nguyenhuyvu/Library/CloudStorage/OneDrive-VNGCorporation/Apps/mygit/a4b-doc-xtalent/product/xTalent/docs/_research/SEP/workspace/slides/cta-b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9950" y="1166961"/>
            <a:ext cx="6603950" cy="330190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92531" y="1701105"/>
            <a:ext cx="595878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1206"/>
              </a:spcBef>
              <a:spcAft>
                <a:spcPts val="1206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xTalent is not just the future of HCM.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1592531" y="2120950"/>
            <a:ext cx="595878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1206"/>
              </a:spcBef>
              <a:spcAft>
                <a:spcPts val="1206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the future of enterprise software.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4254401" y="2540794"/>
            <a:ext cx="634901" cy="25301"/>
          </a:xfrm>
          <a:prstGeom prst="roundRect">
            <a:avLst>
              <a:gd name="adj" fmla="val 50196"/>
            </a:avLst>
          </a:prstGeom>
          <a:solidFill>
            <a:srgbClr val="FFFFFF">
              <a:alpha val="3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1592531" y="2693045"/>
            <a:ext cx="5958789" cy="325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8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static software to living systems. From configuration to conversation. From siloed data to unified knowledge. From manual compliance to automatic governance.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2731889" y="3195786"/>
            <a:ext cx="917079" cy="399752"/>
          </a:xfrm>
          <a:prstGeom prst="roundRect">
            <a:avLst>
              <a:gd name="adj" fmla="val 19062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2878166" y="3348038"/>
            <a:ext cx="62452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Ontology-First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3750469" y="3195786"/>
            <a:ext cx="1390948" cy="399752"/>
          </a:xfrm>
          <a:prstGeom prst="roundRect">
            <a:avLst>
              <a:gd name="adj" fmla="val 19062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3892007" y="3348038"/>
            <a:ext cx="110787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Intent-Over-Configuration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5242917" y="3195786"/>
            <a:ext cx="1168896" cy="399752"/>
          </a:xfrm>
          <a:prstGeom prst="roundRect">
            <a:avLst>
              <a:gd name="adj" fmla="val 19062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5386676" y="3348038"/>
            <a:ext cx="88137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Evolution-by-Design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1023</Words>
  <Application>Microsoft Macintosh PowerPoint</Application>
  <PresentationFormat>On-screen Show (16:9)</PresentationFormat>
  <Paragraphs>176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0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xTalent — The Self-Evolving HCM Platform</dc:title>
  <dc:subject>PptxGenJS Presentation</dc:subject>
  <dc:creator>xTalent Team</dc:creator>
  <cp:lastModifiedBy>Vũ. Nguyễn Huy (7)</cp:lastModifiedBy>
  <cp:revision>1</cp:revision>
  <dcterms:created xsi:type="dcterms:W3CDTF">2026-03-02T08:27:17Z</dcterms:created>
  <dcterms:modified xsi:type="dcterms:W3CDTF">2026-03-02T09:09:25Z</dcterms:modified>
</cp:coreProperties>
</file>